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8" r:id="rId2"/>
    <p:sldId id="260" r:id="rId3"/>
    <p:sldId id="257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59" d="100"/>
          <a:sy n="159" d="100"/>
        </p:scale>
        <p:origin x="124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98E35-EFDF-4907-B8E6-D07B7DD4D09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686144-BE10-4001-A3DB-66565E2E26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438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AD8F052-72F6-4F9E-87A8-CD521E58AD7E}"/>
              </a:ext>
            </a:extLst>
          </p:cNvPr>
          <p:cNvSpPr txBox="1"/>
          <p:nvPr/>
        </p:nvSpPr>
        <p:spPr>
          <a:xfrm>
            <a:off x="505326" y="320842"/>
            <a:ext cx="915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ISA</a:t>
            </a:r>
            <a:endParaRPr lang="zh-CN" altLang="en-US" sz="24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F7A871-5300-442B-858F-6AD28563B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480" y="858254"/>
            <a:ext cx="7853268" cy="40115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459CF26-B334-4CEB-839D-0450573B5297}"/>
              </a:ext>
            </a:extLst>
          </p:cNvPr>
          <p:cNvSpPr txBox="1"/>
          <p:nvPr/>
        </p:nvSpPr>
        <p:spPr>
          <a:xfrm>
            <a:off x="505326" y="4799417"/>
            <a:ext cx="113297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en-US" altLang="zh-CN" dirty="0"/>
              <a:t>size</a:t>
            </a:r>
            <a:r>
              <a:rPr lang="zh-CN" altLang="en-US" dirty="0"/>
              <a:t>的单位对于</a:t>
            </a:r>
            <a:r>
              <a:rPr lang="en-US" altLang="zh-CN" dirty="0"/>
              <a:t>read, write</a:t>
            </a:r>
            <a:r>
              <a:rPr lang="zh-CN" altLang="en-US" dirty="0"/>
              <a:t>和</a:t>
            </a:r>
            <a:r>
              <a:rPr lang="en-US" altLang="zh-CN" dirty="0"/>
              <a:t>search, compute</a:t>
            </a:r>
            <a:r>
              <a:rPr lang="zh-CN" altLang="en-US" dirty="0"/>
              <a:t>是不一样的。为了节省后续</a:t>
            </a:r>
            <a:r>
              <a:rPr lang="en-US" altLang="zh-CN" dirty="0"/>
              <a:t>transaction</a:t>
            </a:r>
            <a:r>
              <a:rPr lang="zh-CN" altLang="en-US" dirty="0"/>
              <a:t>的调度开销，</a:t>
            </a:r>
            <a:r>
              <a:rPr lang="en-US" altLang="zh-CN" dirty="0"/>
              <a:t>search</a:t>
            </a:r>
            <a:r>
              <a:rPr lang="zh-CN" altLang="en-US" dirty="0"/>
              <a:t>和</a:t>
            </a:r>
            <a:r>
              <a:rPr lang="en-US" altLang="zh-CN" dirty="0"/>
              <a:t>compute</a:t>
            </a:r>
            <a:r>
              <a:rPr lang="zh-CN" altLang="en-US" dirty="0"/>
              <a:t>的</a:t>
            </a:r>
            <a:r>
              <a:rPr lang="en-US" altLang="zh-CN" dirty="0"/>
              <a:t>size = 1</a:t>
            </a:r>
            <a:r>
              <a:rPr lang="zh-CN" altLang="en-US" dirty="0"/>
              <a:t>的操作访问的是一根</a:t>
            </a:r>
            <a:r>
              <a:rPr lang="en-US" altLang="zh-CN" dirty="0"/>
              <a:t>SSL</a:t>
            </a:r>
            <a:r>
              <a:rPr lang="zh-CN" altLang="en-US" dirty="0"/>
              <a:t>下的所有</a:t>
            </a:r>
            <a:r>
              <a:rPr lang="en-US" altLang="zh-CN" dirty="0"/>
              <a:t>page (</a:t>
            </a:r>
            <a:r>
              <a:rPr lang="zh-CN" altLang="en-US" dirty="0"/>
              <a:t>暂时称之为</a:t>
            </a:r>
            <a:r>
              <a:rPr lang="en-US" altLang="zh-CN" dirty="0"/>
              <a:t>sub-plane)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zh-CN" dirty="0" err="1"/>
              <a:t>lha</a:t>
            </a:r>
            <a:r>
              <a:rPr lang="en-US" altLang="zh-CN" dirty="0"/>
              <a:t> (logical host address)</a:t>
            </a:r>
            <a:r>
              <a:rPr lang="zh-CN" altLang="en-US" dirty="0"/>
              <a:t>对所有操作是统一管理的，设置了一个</a:t>
            </a:r>
            <a:r>
              <a:rPr lang="en-US" altLang="zh-CN" dirty="0"/>
              <a:t>STATIC_BASE_LHA</a:t>
            </a:r>
            <a:r>
              <a:rPr lang="zh-CN" altLang="en-US" dirty="0"/>
              <a:t>来记录静态区域的基地址，大于这个基地址的</a:t>
            </a:r>
            <a:r>
              <a:rPr lang="en-US" altLang="zh-CN" dirty="0" err="1"/>
              <a:t>start_lha</a:t>
            </a:r>
            <a:r>
              <a:rPr lang="zh-CN" altLang="en-US" dirty="0"/>
              <a:t>将按照</a:t>
            </a:r>
            <a:r>
              <a:rPr lang="en-US" altLang="zh-CN" dirty="0"/>
              <a:t>sub-plane</a:t>
            </a:r>
            <a:r>
              <a:rPr lang="zh-CN" altLang="en-US" dirty="0"/>
              <a:t>为粒度进行解析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目前对于静态区域的划分方式是同一个</a:t>
            </a:r>
            <a:r>
              <a:rPr lang="en-US" altLang="zh-CN" dirty="0"/>
              <a:t>channel</a:t>
            </a:r>
            <a:r>
              <a:rPr lang="zh-CN" altLang="en-US" dirty="0"/>
              <a:t>下划分固定数量的</a:t>
            </a:r>
            <a:r>
              <a:rPr lang="en-US" altLang="zh-CN" dirty="0"/>
              <a:t>chip</a:t>
            </a:r>
            <a:r>
              <a:rPr lang="zh-CN" altLang="en-US" dirty="0"/>
              <a:t>来作为静态区域，禁止随机写操作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97132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F40D63F-394F-49A8-A958-F793F8490321}"/>
              </a:ext>
            </a:extLst>
          </p:cNvPr>
          <p:cNvSpPr txBox="1"/>
          <p:nvPr/>
        </p:nvSpPr>
        <p:spPr>
          <a:xfrm>
            <a:off x="445168" y="4186989"/>
            <a:ext cx="11329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dirty="0"/>
              <a:t>trace</a:t>
            </a:r>
            <a:r>
              <a:rPr lang="zh-CN" altLang="en-US" dirty="0"/>
              <a:t>文件 </a:t>
            </a:r>
            <a:r>
              <a:rPr lang="en-US" altLang="zh-CN" dirty="0">
                <a:sym typeface="Wingdings" panose="05000000000000000000" pitchFamily="2" charset="2"/>
              </a:rPr>
              <a:t> workload  Host</a:t>
            </a:r>
            <a:r>
              <a:rPr lang="zh-CN" altLang="en-US" dirty="0">
                <a:sym typeface="Wingdings" panose="05000000000000000000" pitchFamily="2" charset="2"/>
              </a:rPr>
              <a:t>发出</a:t>
            </a:r>
            <a:r>
              <a:rPr lang="en-US" altLang="zh-CN" dirty="0">
                <a:sym typeface="Wingdings" panose="05000000000000000000" pitchFamily="2" charset="2"/>
              </a:rPr>
              <a:t>req  HIL</a:t>
            </a:r>
            <a:r>
              <a:rPr lang="zh-CN" altLang="en-US" dirty="0">
                <a:sym typeface="Wingdings" panose="05000000000000000000" pitchFamily="2" charset="2"/>
              </a:rPr>
              <a:t>切分</a:t>
            </a:r>
            <a:r>
              <a:rPr lang="en-US" altLang="zh-CN" dirty="0">
                <a:sym typeface="Wingdings" panose="05000000000000000000" pitchFamily="2" charset="2"/>
              </a:rPr>
              <a:t>req  AMU</a:t>
            </a:r>
            <a:r>
              <a:rPr lang="zh-CN" altLang="en-US" dirty="0">
                <a:sym typeface="Wingdings" panose="05000000000000000000" pitchFamily="2" charset="2"/>
              </a:rPr>
              <a:t>地址映射并更新</a:t>
            </a:r>
            <a:r>
              <a:rPr lang="en-US" altLang="zh-CN" dirty="0">
                <a:sym typeface="Wingdings" panose="05000000000000000000" pitchFamily="2" charset="2"/>
              </a:rPr>
              <a:t>mapping table  TSU</a:t>
            </a:r>
            <a:r>
              <a:rPr lang="zh-CN" altLang="en-US" dirty="0">
                <a:sym typeface="Wingdings" panose="05000000000000000000" pitchFamily="2" charset="2"/>
              </a:rPr>
              <a:t>调度</a:t>
            </a:r>
            <a:r>
              <a:rPr lang="en-US" altLang="zh-CN" dirty="0">
                <a:sym typeface="Wingdings" panose="05000000000000000000" pitchFamily="2" charset="2"/>
              </a:rPr>
              <a:t>transactions  PHY</a:t>
            </a:r>
            <a:r>
              <a:rPr lang="zh-CN" altLang="en-US" dirty="0">
                <a:sym typeface="Wingdings" panose="05000000000000000000" pitchFamily="2" charset="2"/>
              </a:rPr>
              <a:t>下发给</a:t>
            </a:r>
            <a:r>
              <a:rPr lang="en-US" altLang="zh-CN" dirty="0">
                <a:sym typeface="Wingdings" panose="05000000000000000000" pitchFamily="2" charset="2"/>
              </a:rPr>
              <a:t>Chip</a:t>
            </a:r>
            <a:r>
              <a:rPr lang="zh-CN" altLang="en-US" dirty="0">
                <a:sym typeface="Wingdings" panose="05000000000000000000" pitchFamily="2" charset="2"/>
              </a:rPr>
              <a:t>执行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回传数据 </a:t>
            </a:r>
            <a:r>
              <a:rPr lang="en-US" altLang="zh-CN" dirty="0">
                <a:sym typeface="Wingdings" panose="05000000000000000000" pitchFamily="2" charset="2"/>
              </a:rPr>
              <a:t>&amp; </a:t>
            </a:r>
            <a:r>
              <a:rPr lang="zh-CN" altLang="en-US" dirty="0">
                <a:sym typeface="Wingdings" panose="05000000000000000000" pitchFamily="2" charset="2"/>
              </a:rPr>
              <a:t>上报指令完成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dirty="0"/>
              <a:t>跑通了</a:t>
            </a:r>
            <a:r>
              <a:rPr lang="en-US" altLang="zh-CN" dirty="0"/>
              <a:t>atomic write req</a:t>
            </a:r>
            <a:r>
              <a:rPr lang="zh-CN" altLang="en-US" dirty="0"/>
              <a:t>（只访问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sector</a:t>
            </a:r>
            <a:r>
              <a:rPr lang="zh-CN" altLang="en-US" dirty="0"/>
              <a:t>）的全流程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B60813-E4EF-437E-A8A4-3EE09FD5F9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178" y="392053"/>
            <a:ext cx="6436895" cy="326554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C00E8AF-38FD-4A03-B1D2-C30B10D1176C}"/>
              </a:ext>
            </a:extLst>
          </p:cNvPr>
          <p:cNvSpPr txBox="1"/>
          <p:nvPr/>
        </p:nvSpPr>
        <p:spPr>
          <a:xfrm>
            <a:off x="505326" y="320842"/>
            <a:ext cx="915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已完成</a:t>
            </a:r>
          </a:p>
        </p:txBody>
      </p:sp>
    </p:spTree>
    <p:extLst>
      <p:ext uri="{BB962C8B-B14F-4D97-AF65-F5344CB8AC3E}">
        <p14:creationId xmlns:p14="http://schemas.microsoft.com/office/powerpoint/2010/main" val="4264852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F40D63F-394F-49A8-A958-F793F8490321}"/>
              </a:ext>
            </a:extLst>
          </p:cNvPr>
          <p:cNvSpPr txBox="1"/>
          <p:nvPr/>
        </p:nvSpPr>
        <p:spPr>
          <a:xfrm>
            <a:off x="445168" y="4186989"/>
            <a:ext cx="113297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目前只支持</a:t>
            </a:r>
            <a:r>
              <a:rPr lang="en-US" altLang="zh-CN" dirty="0"/>
              <a:t>stand alone</a:t>
            </a:r>
            <a:r>
              <a:rPr lang="zh-CN" altLang="en-US" dirty="0"/>
              <a:t>形式的仿真，因此在</a:t>
            </a:r>
            <a:r>
              <a:rPr lang="en-US" altLang="zh-CN" dirty="0"/>
              <a:t>host memory</a:t>
            </a:r>
            <a:r>
              <a:rPr lang="zh-CN" altLang="en-US" dirty="0"/>
              <a:t>中开始所有的数据都没有管具体值是什么，只在意访问操作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目前实现的是</a:t>
            </a:r>
            <a:r>
              <a:rPr lang="en-US" altLang="zh-CN" dirty="0" err="1"/>
              <a:t>NVMe</a:t>
            </a:r>
            <a:r>
              <a:rPr lang="zh-CN" altLang="en-US" dirty="0"/>
              <a:t>协议，但是双边的指针管理还没写，是直接把</a:t>
            </a:r>
            <a:r>
              <a:rPr lang="en-US" altLang="zh-CN" dirty="0"/>
              <a:t>host</a:t>
            </a:r>
            <a:r>
              <a:rPr lang="zh-CN" altLang="en-US" dirty="0"/>
              <a:t>端的指针暴露给</a:t>
            </a:r>
            <a:r>
              <a:rPr lang="en-US" altLang="zh-CN" dirty="0"/>
              <a:t>HIL</a:t>
            </a:r>
            <a:r>
              <a:rPr lang="zh-CN" altLang="en-US" dirty="0"/>
              <a:t>的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en-US" altLang="zh-CN" dirty="0"/>
              <a:t>Data Cache</a:t>
            </a:r>
            <a:r>
              <a:rPr lang="zh-CN" altLang="en-US" dirty="0"/>
              <a:t>目前只是个字典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en-US" altLang="zh-CN" dirty="0"/>
              <a:t>preconditioning</a:t>
            </a:r>
            <a:r>
              <a:rPr lang="zh-CN" altLang="en-US" dirty="0"/>
              <a:t>还没写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en-US" altLang="zh-CN" dirty="0"/>
              <a:t>GC</a:t>
            </a:r>
            <a:r>
              <a:rPr lang="zh-CN" altLang="en-US" dirty="0"/>
              <a:t>模块还没写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en-US" altLang="zh-CN" dirty="0"/>
              <a:t>AMU</a:t>
            </a:r>
            <a:r>
              <a:rPr lang="zh-CN" altLang="en-US" dirty="0"/>
              <a:t>中对于不同操作之间竞争的处理需要完善，</a:t>
            </a:r>
            <a:r>
              <a:rPr lang="en-US" altLang="zh-CN" dirty="0" err="1"/>
              <a:t>cmt</a:t>
            </a:r>
            <a:r>
              <a:rPr lang="zh-CN" altLang="en-US" dirty="0"/>
              <a:t>和</a:t>
            </a:r>
            <a:r>
              <a:rPr lang="en-US" altLang="zh-CN" dirty="0"/>
              <a:t>flash mapping page</a:t>
            </a:r>
            <a:r>
              <a:rPr lang="zh-CN" altLang="en-US" dirty="0"/>
              <a:t>的交互需要完善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数据统计目前只有每个</a:t>
            </a:r>
            <a:r>
              <a:rPr lang="en-US" altLang="zh-CN" dirty="0"/>
              <a:t>req</a:t>
            </a:r>
            <a:r>
              <a:rPr lang="zh-CN" altLang="en-US" dirty="0"/>
              <a:t>的</a:t>
            </a:r>
            <a:r>
              <a:rPr lang="en-US" altLang="zh-CN" dirty="0"/>
              <a:t>latency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B60813-E4EF-437E-A8A4-3EE09FD5F9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178" y="392053"/>
            <a:ext cx="6436895" cy="326554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C00E8AF-38FD-4A03-B1D2-C30B10D1176C}"/>
              </a:ext>
            </a:extLst>
          </p:cNvPr>
          <p:cNvSpPr txBox="1"/>
          <p:nvPr/>
        </p:nvSpPr>
        <p:spPr>
          <a:xfrm>
            <a:off x="505326" y="320842"/>
            <a:ext cx="915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待完善</a:t>
            </a:r>
          </a:p>
        </p:txBody>
      </p:sp>
    </p:spTree>
    <p:extLst>
      <p:ext uri="{BB962C8B-B14F-4D97-AF65-F5344CB8AC3E}">
        <p14:creationId xmlns:p14="http://schemas.microsoft.com/office/powerpoint/2010/main" val="3081089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FD04AB6-D69F-4CF2-84EA-583F3A078927}"/>
              </a:ext>
            </a:extLst>
          </p:cNvPr>
          <p:cNvSpPr txBox="1"/>
          <p:nvPr/>
        </p:nvSpPr>
        <p:spPr>
          <a:xfrm>
            <a:off x="505326" y="942473"/>
            <a:ext cx="1132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dirty="0"/>
              <a:t>支持跟别的</a:t>
            </a:r>
            <a:r>
              <a:rPr lang="en-US" altLang="zh-CN" dirty="0" err="1"/>
              <a:t>cpu</a:t>
            </a:r>
            <a:r>
              <a:rPr lang="zh-CN" altLang="en-US" dirty="0"/>
              <a:t>仿真器联合跑仿真？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dirty="0"/>
              <a:t>探索设计空间：</a:t>
            </a:r>
            <a:r>
              <a:rPr lang="en-US" altLang="zh-CN" dirty="0"/>
              <a:t>static</a:t>
            </a:r>
            <a:r>
              <a:rPr lang="zh-CN" altLang="en-US" dirty="0"/>
              <a:t>区域怎么划分，</a:t>
            </a:r>
            <a:r>
              <a:rPr lang="en-US" altLang="zh-CN" dirty="0"/>
              <a:t>TSU</a:t>
            </a:r>
            <a:r>
              <a:rPr lang="zh-CN" altLang="en-US" dirty="0"/>
              <a:t>调度算法如何平衡</a:t>
            </a:r>
            <a:r>
              <a:rPr lang="en-US" altLang="zh-CN" dirty="0"/>
              <a:t>static</a:t>
            </a:r>
            <a:r>
              <a:rPr lang="zh-CN" altLang="en-US" dirty="0"/>
              <a:t>和</a:t>
            </a:r>
            <a:r>
              <a:rPr lang="en-US" altLang="zh-CN" dirty="0"/>
              <a:t>random</a:t>
            </a:r>
            <a:r>
              <a:rPr lang="zh-CN" altLang="en-US" dirty="0"/>
              <a:t>的操作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BC7B9B-9125-4C46-973F-17DF9AE9CA00}"/>
              </a:ext>
            </a:extLst>
          </p:cNvPr>
          <p:cNvSpPr txBox="1"/>
          <p:nvPr/>
        </p:nvSpPr>
        <p:spPr>
          <a:xfrm>
            <a:off x="505326" y="320842"/>
            <a:ext cx="915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可拓展</a:t>
            </a:r>
          </a:p>
        </p:txBody>
      </p:sp>
    </p:spTree>
    <p:extLst>
      <p:ext uri="{BB962C8B-B14F-4D97-AF65-F5344CB8AC3E}">
        <p14:creationId xmlns:p14="http://schemas.microsoft.com/office/powerpoint/2010/main" val="2888423774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305</Words>
  <Application>Microsoft Office PowerPoint</Application>
  <PresentationFormat>宽屏</PresentationFormat>
  <Paragraphs>18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Arial</vt:lpstr>
      <vt:lpstr>Calibri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Tongbin Zhao</dc:creator>
  <cp:lastModifiedBy>Tongbin Zhao</cp:lastModifiedBy>
  <cp:revision>48</cp:revision>
  <dcterms:created xsi:type="dcterms:W3CDTF">2023-08-09T12:44:00Z</dcterms:created>
  <dcterms:modified xsi:type="dcterms:W3CDTF">2026-03-17T05:55:20Z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