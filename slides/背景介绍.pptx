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 id="2147483683" r:id="rId2"/>
  </p:sldMasterIdLst>
  <p:notesMasterIdLst>
    <p:notesMasterId r:id="rId7"/>
  </p:notesMasterIdLst>
  <p:sldIdLst>
    <p:sldId id="332" r:id="rId3"/>
    <p:sldId id="334" r:id="rId4"/>
    <p:sldId id="358" r:id="rId5"/>
    <p:sldId id="333"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BFFD"/>
    <a:srgbClr val="0000FF"/>
    <a:srgbClr val="5791DA"/>
    <a:srgbClr val="FFFF99"/>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3398" autoAdjust="0"/>
  </p:normalViewPr>
  <p:slideViewPr>
    <p:cSldViewPr snapToGrid="0" showGuides="1">
      <p:cViewPr varScale="1">
        <p:scale>
          <a:sx n="82" d="100"/>
          <a:sy n="82" d="100"/>
        </p:scale>
        <p:origin x="272"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EA0620-D4CF-443C-993D-1BB6926FAAC0}" type="datetimeFigureOut">
              <a:rPr lang="zh-CN" altLang="en-US" smtClean="0"/>
              <a:t>2026/4/17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20E329-345D-4BE1-84C6-C4EA0E0D839F}" type="slidenum">
              <a:rPr lang="zh-CN" altLang="en-US" smtClean="0"/>
              <a:t>‹#›</a:t>
            </a:fld>
            <a:endParaRPr lang="zh-CN" altLang="en-US"/>
          </a:p>
        </p:txBody>
      </p:sp>
    </p:spTree>
    <p:extLst>
      <p:ext uri="{BB962C8B-B14F-4D97-AF65-F5344CB8AC3E}">
        <p14:creationId xmlns:p14="http://schemas.microsoft.com/office/powerpoint/2010/main" val="1700607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37439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模板</a:t>
            </a: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1666744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extLst>
      <p:ext uri="{BB962C8B-B14F-4D97-AF65-F5344CB8AC3E}">
        <p14:creationId xmlns:p14="http://schemas.microsoft.com/office/powerpoint/2010/main" val="102206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Tree>
    <p:extLst>
      <p:ext uri="{BB962C8B-B14F-4D97-AF65-F5344CB8AC3E}">
        <p14:creationId xmlns:p14="http://schemas.microsoft.com/office/powerpoint/2010/main" val="4094720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20204"/>
                <a:ea typeface="微软雅黑"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499285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20204"/>
                <a:ea typeface="微软雅黑"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20204"/>
              <a:ea typeface="微软雅黑" panose="020B0503020204020204" pitchFamily="34" charset="-122"/>
              <a:cs typeface="+mn-ea"/>
            </a:endParaRPr>
          </a:p>
        </p:txBody>
      </p:sp>
    </p:spTree>
    <p:extLst>
      <p:ext uri="{BB962C8B-B14F-4D97-AF65-F5344CB8AC3E}">
        <p14:creationId xmlns:p14="http://schemas.microsoft.com/office/powerpoint/2010/main" val="4224535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20204"/>
                <a:ea typeface="微软雅黑"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20204"/>
                <a:ea typeface="微软雅黑"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484903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129003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262247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t>‹#›</a:t>
            </a:fld>
            <a:r>
              <a:rPr lang="zh-CN" altLang="en-US" dirty="0"/>
              <a:t> </a:t>
            </a:r>
            <a:r>
              <a:rPr lang="en-US" altLang="zh-CN" dirty="0"/>
              <a:t>&gt;</a:t>
            </a:r>
            <a:endParaRPr lang="zh-CN" altLang="en-US" dirty="0"/>
          </a:p>
        </p:txBody>
      </p: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653595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t>‹#›</a:t>
            </a:fld>
            <a:r>
              <a:rPr lang="zh-CN" altLang="en-US" dirty="0"/>
              <a:t> </a:t>
            </a:r>
            <a:r>
              <a:rPr lang="en-US" altLang="zh-CN" dirty="0"/>
              <a:t>&gt;</a:t>
            </a:r>
            <a:endParaRPr lang="zh-CN" altLang="en-US" dirty="0"/>
          </a:p>
        </p:txBody>
      </p: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4162280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57"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Tree>
    <p:extLst>
      <p:ext uri="{BB962C8B-B14F-4D97-AF65-F5344CB8AC3E}">
        <p14:creationId xmlns:p14="http://schemas.microsoft.com/office/powerpoint/2010/main" val="3836844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743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213234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37086345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28265226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17315851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30691478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6432657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2127248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5437942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2303916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8203469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3075221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7719411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2026/4/17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35424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2026/4/17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9637931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2026/4/17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1774202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531901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398070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393518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34778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0831993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2026/4/17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9356014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&lt; </a:t>
            </a:r>
            <a:fld id="{A548B57D-AE10-4CF7-A9DF-59FEFA91B28E}" type="slidenum">
              <a:rPr kumimoji="0" lang="zh-CN" altLang="en-US" sz="1200" b="0" i="0" u="none" strike="noStrike" kern="1200" cap="none" spc="0" normalizeH="0" baseline="0" noProof="0" smtClean="0">
                <a:ln>
                  <a:noFill/>
                </a:ln>
                <a:solidFill>
                  <a:srgbClr val="000000">
                    <a:lumMod val="50000"/>
                    <a:lumOff val="50000"/>
                  </a:srgbClr>
                </a:solidFill>
                <a:effectLst/>
                <a:uLnTx/>
                <a:uFillTx/>
                <a:latin typeface="Arial"/>
                <a:ea typeface="微软雅黑"/>
                <a:cs typeface="+mn-cs"/>
                <a:sym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r>
              <a:rPr kumimoji="0" lang="zh-CN" altLang="en-US"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 </a:t>
            </a:r>
            <a:r>
              <a:rPr kumimoji="0" lang="en-US" altLang="zh-CN"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a:ea typeface="微软雅黑"/>
              <a:cs typeface="+mn-cs"/>
              <a:sym typeface="Arial" panose="020B0604020202020204" pitchFamily="34" charset="0"/>
            </a:endParaRPr>
          </a:p>
        </p:txBody>
      </p:sp>
      <p:sp>
        <p:nvSpPr>
          <p:cNvPr id="11" name="文本框 10">
            <a:extLst>
              <a:ext uri="{FF2B5EF4-FFF2-40B4-BE49-F238E27FC236}">
                <a16:creationId xmlns:a16="http://schemas.microsoft.com/office/drawing/2014/main" id="{42F3B516-80BE-4C70-88F4-111ED0937BC2}"/>
              </a:ext>
            </a:extLst>
          </p:cNvPr>
          <p:cNvSpPr txBox="1"/>
          <p:nvPr/>
        </p:nvSpPr>
        <p:spPr>
          <a:xfrm>
            <a:off x="515105" y="995408"/>
            <a:ext cx="11116734" cy="4847994"/>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600" dirty="0"/>
              <a:t>云侧：在</a:t>
            </a:r>
            <a:r>
              <a:rPr lang="en-US" altLang="zh-CN" sz="1600" dirty="0"/>
              <a:t>agent</a:t>
            </a:r>
            <a:r>
              <a:rPr lang="zh-CN" altLang="en-US" sz="1600" dirty="0"/>
              <a:t>协作、用户请求增长、上下文长度增长的趋势下，</a:t>
            </a:r>
            <a:r>
              <a:rPr lang="en-US" altLang="zh-CN" sz="1600" dirty="0"/>
              <a:t>KV</a:t>
            </a:r>
            <a:r>
              <a:rPr lang="zh-CN" altLang="en-US" sz="1600" dirty="0"/>
              <a:t>的容量激增，已经无法存在片上甚至</a:t>
            </a:r>
            <a:r>
              <a:rPr lang="en-US" altLang="zh-CN" sz="1600" dirty="0"/>
              <a:t>HBM</a:t>
            </a:r>
            <a:r>
              <a:rPr lang="zh-CN" altLang="en-US" sz="1600" dirty="0"/>
              <a:t>上，需要更大容量的</a:t>
            </a:r>
            <a:r>
              <a:rPr lang="en-US" altLang="zh-CN" sz="1600" dirty="0"/>
              <a:t>memory</a:t>
            </a:r>
            <a:r>
              <a:rPr lang="zh-CN" altLang="en-US" sz="1600" dirty="0"/>
              <a:t>来存储</a:t>
            </a:r>
            <a:r>
              <a:rPr lang="en-US" altLang="zh-CN" sz="1600" dirty="0"/>
              <a:t>KV</a:t>
            </a:r>
          </a:p>
          <a:p>
            <a:pPr marL="342900" indent="-342900">
              <a:lnSpc>
                <a:spcPct val="150000"/>
              </a:lnSpc>
              <a:buFont typeface="Wingdings" panose="05000000000000000000" pitchFamily="2" charset="2"/>
              <a:buChar char="Ø"/>
            </a:pPr>
            <a:r>
              <a:rPr lang="zh-CN" altLang="en-US" sz="1600" dirty="0"/>
              <a:t>端侧：现有用</a:t>
            </a:r>
            <a:r>
              <a:rPr lang="en-US" altLang="zh-CN" sz="1600" dirty="0"/>
              <a:t>DRAM</a:t>
            </a:r>
            <a:r>
              <a:rPr lang="zh-CN" altLang="en-US" sz="1600" dirty="0"/>
              <a:t>作为主要存储介质的端侧推理系统容量非常受限，无法运行参数量较大的模型；</a:t>
            </a:r>
            <a:r>
              <a:rPr lang="en-US" altLang="zh-CN" sz="1600" dirty="0"/>
              <a:t>SSD</a:t>
            </a:r>
            <a:r>
              <a:rPr lang="zh-CN" altLang="en-US" sz="1600" dirty="0"/>
              <a:t>虽然可以为端侧部署模型提供存储空间，但其外部带宽太小，严重影响吞吐率</a:t>
            </a:r>
            <a:endParaRPr lang="en-US" altLang="zh-CN" sz="1600" dirty="0"/>
          </a:p>
          <a:p>
            <a:pPr marL="342900" indent="-342900">
              <a:lnSpc>
                <a:spcPct val="150000"/>
              </a:lnSpc>
              <a:buFont typeface="Wingdings" panose="05000000000000000000" pitchFamily="2" charset="2"/>
              <a:buChar char="Ø"/>
            </a:pPr>
            <a:endParaRPr lang="en-US" altLang="zh-CN" sz="1600" dirty="0"/>
          </a:p>
          <a:p>
            <a:pPr marL="285750" indent="-285750">
              <a:lnSpc>
                <a:spcPct val="150000"/>
              </a:lnSpc>
              <a:buFont typeface="Wingdings" panose="05000000000000000000" pitchFamily="2" charset="2"/>
              <a:buChar char="u"/>
            </a:pPr>
            <a:r>
              <a:rPr lang="zh-CN" altLang="en-US" sz="1600" dirty="0"/>
              <a:t>在云侧，用</a:t>
            </a:r>
            <a:r>
              <a:rPr lang="en-US" altLang="zh-CN" sz="1600" dirty="0"/>
              <a:t>Storage-Next</a:t>
            </a:r>
            <a:r>
              <a:rPr lang="zh-CN" altLang="en-US" sz="1600" dirty="0"/>
              <a:t>、</a:t>
            </a:r>
            <a:r>
              <a:rPr lang="en-US" altLang="zh-CN" sz="1600" dirty="0"/>
              <a:t>HBF</a:t>
            </a:r>
            <a:r>
              <a:rPr lang="zh-CN" altLang="en-US" sz="1600" dirty="0"/>
              <a:t>等新兴大容量、高带宽存储设备，支持</a:t>
            </a:r>
            <a:r>
              <a:rPr lang="en-US" altLang="zh-CN" sz="1600" dirty="0"/>
              <a:t>KV</a:t>
            </a:r>
            <a:r>
              <a:rPr lang="zh-CN" altLang="en-US" sz="1600" dirty="0"/>
              <a:t>的存储需求</a:t>
            </a:r>
            <a:endParaRPr lang="en-US" altLang="zh-CN" sz="1600" dirty="0"/>
          </a:p>
          <a:p>
            <a:pPr marL="742950" lvl="1" indent="-285750">
              <a:lnSpc>
                <a:spcPct val="150000"/>
              </a:lnSpc>
              <a:buFont typeface="Wingdings" panose="05000000000000000000" pitchFamily="2" charset="2"/>
              <a:buChar char="p"/>
            </a:pPr>
            <a:r>
              <a:rPr lang="en-US" altLang="zh-CN" sz="1600" dirty="0"/>
              <a:t>HBF</a:t>
            </a:r>
            <a:r>
              <a:rPr lang="zh-CN" altLang="en-US" sz="1600" dirty="0"/>
              <a:t>的接口带宽显著增加，但是读出延时没有太大变化，在这种情况下系统的瓶颈有没有改变</a:t>
            </a:r>
            <a:endParaRPr lang="en-US" altLang="zh-CN" sz="1600" dirty="0"/>
          </a:p>
          <a:p>
            <a:pPr marL="742950" lvl="1" indent="-285750">
              <a:lnSpc>
                <a:spcPct val="150000"/>
              </a:lnSpc>
              <a:buFont typeface="Wingdings" panose="05000000000000000000" pitchFamily="2" charset="2"/>
              <a:buChar char="p"/>
            </a:pPr>
            <a:r>
              <a:rPr lang="en-US" altLang="zh-CN" sz="1600" dirty="0"/>
              <a:t>HBF</a:t>
            </a:r>
            <a:r>
              <a:rPr lang="zh-CN" altLang="en-US" sz="1600" dirty="0"/>
              <a:t>如何组织进</a:t>
            </a:r>
            <a:r>
              <a:rPr lang="en-US" altLang="zh-CN" sz="1600" dirty="0"/>
              <a:t>GPU</a:t>
            </a:r>
            <a:r>
              <a:rPr lang="zh-CN" altLang="en-US" sz="1600" dirty="0"/>
              <a:t>推理系统（</a:t>
            </a:r>
            <a:r>
              <a:rPr lang="en-US" altLang="zh-CN" sz="1600" dirty="0"/>
              <a:t>GPU + GDDR/HBM</a:t>
            </a:r>
            <a:r>
              <a:rPr lang="zh-CN" altLang="en-US" sz="1600" dirty="0"/>
              <a:t>）</a:t>
            </a:r>
            <a:endParaRPr lang="en-US" altLang="zh-CN" sz="1600" dirty="0"/>
          </a:p>
          <a:p>
            <a:pPr marL="1200150" lvl="2" indent="-285750">
              <a:lnSpc>
                <a:spcPct val="150000"/>
              </a:lnSpc>
              <a:buFont typeface="Arial" panose="020B0604020202020204" pitchFamily="34" charset="0"/>
              <a:buChar char="•"/>
            </a:pPr>
            <a:r>
              <a:rPr lang="zh-CN" altLang="en-US" sz="1600" dirty="0"/>
              <a:t>核心问题：</a:t>
            </a:r>
            <a:r>
              <a:rPr lang="en-US" altLang="zh-CN" sz="1600" dirty="0"/>
              <a:t>HBF</a:t>
            </a:r>
            <a:r>
              <a:rPr lang="zh-CN" altLang="en-US" sz="1600" dirty="0"/>
              <a:t>与</a:t>
            </a:r>
            <a:r>
              <a:rPr lang="en-US" altLang="zh-CN" sz="1600" dirty="0"/>
              <a:t>HBM/DRAM</a:t>
            </a:r>
            <a:r>
              <a:rPr lang="zh-CN" altLang="en-US" sz="1600" dirty="0"/>
              <a:t>的存储语义不同</a:t>
            </a:r>
            <a:endParaRPr lang="en-US" altLang="zh-CN" sz="1600" dirty="0"/>
          </a:p>
          <a:p>
            <a:pPr marL="742950" lvl="1" indent="-285750">
              <a:lnSpc>
                <a:spcPct val="150000"/>
              </a:lnSpc>
              <a:buFont typeface="Wingdings" panose="05000000000000000000" pitchFamily="2" charset="2"/>
              <a:buChar char="p"/>
            </a:pPr>
            <a:r>
              <a:rPr lang="zh-CN" altLang="en-US" sz="1600" dirty="0"/>
              <a:t>算力、各层级存储容量调整</a:t>
            </a:r>
            <a:endParaRPr lang="en-US" altLang="zh-CN" sz="1600" dirty="0"/>
          </a:p>
          <a:p>
            <a:pPr marL="285750" indent="-285750">
              <a:lnSpc>
                <a:spcPct val="150000"/>
              </a:lnSpc>
              <a:buFont typeface="Wingdings" panose="05000000000000000000" pitchFamily="2" charset="2"/>
              <a:buChar char="u"/>
            </a:pPr>
            <a:r>
              <a:rPr lang="zh-CN" altLang="en-US" sz="1600" dirty="0"/>
              <a:t>在端侧，利用</a:t>
            </a:r>
            <a:r>
              <a:rPr lang="en-US" altLang="zh-CN" sz="1600" dirty="0"/>
              <a:t>CIM</a:t>
            </a:r>
            <a:r>
              <a:rPr lang="zh-CN" altLang="en-US" sz="1600" dirty="0"/>
              <a:t>、</a:t>
            </a:r>
            <a:r>
              <a:rPr lang="en-US" altLang="zh-CN" sz="1600" dirty="0"/>
              <a:t>CAM</a:t>
            </a:r>
            <a:r>
              <a:rPr lang="zh-CN" altLang="en-US" sz="1600" dirty="0"/>
              <a:t>等存算模式，挖掘</a:t>
            </a:r>
            <a:r>
              <a:rPr lang="en-US" altLang="zh-CN" sz="1600" dirty="0"/>
              <a:t>SSD</a:t>
            </a:r>
            <a:r>
              <a:rPr lang="zh-CN" altLang="en-US" sz="1600" dirty="0"/>
              <a:t>内部的带宽</a:t>
            </a:r>
            <a:endParaRPr lang="en-US" altLang="zh-CN" sz="1600" dirty="0"/>
          </a:p>
          <a:p>
            <a:pPr marL="742950" lvl="1" indent="-285750">
              <a:lnSpc>
                <a:spcPct val="150000"/>
              </a:lnSpc>
              <a:buFont typeface="Wingdings" panose="05000000000000000000" pitchFamily="2" charset="2"/>
              <a:buChar char="p"/>
            </a:pPr>
            <a:r>
              <a:rPr lang="zh-CN" altLang="en-US" sz="1600" dirty="0"/>
              <a:t>性能评估</a:t>
            </a:r>
            <a:endParaRPr lang="en-US" altLang="zh-CN" sz="1600" dirty="0"/>
          </a:p>
          <a:p>
            <a:pPr marL="742950" lvl="1" indent="-285750">
              <a:lnSpc>
                <a:spcPct val="150000"/>
              </a:lnSpc>
              <a:buFont typeface="Wingdings" panose="05000000000000000000" pitchFamily="2" charset="2"/>
              <a:buChar char="p"/>
            </a:pPr>
            <a:r>
              <a:rPr lang="zh-CN" altLang="en-US" sz="1600" dirty="0"/>
              <a:t>数据映射、调度的优化</a:t>
            </a:r>
            <a:endParaRPr lang="en-US" altLang="zh-CN" sz="1600" dirty="0"/>
          </a:p>
        </p:txBody>
      </p:sp>
      <p:sp>
        <p:nvSpPr>
          <p:cNvPr id="3" name="文本框 2">
            <a:extLst>
              <a:ext uri="{FF2B5EF4-FFF2-40B4-BE49-F238E27FC236}">
                <a16:creationId xmlns:a16="http://schemas.microsoft.com/office/drawing/2014/main" id="{21FAEB05-16F1-4827-B4F3-0155C44C6F39}"/>
              </a:ext>
            </a:extLst>
          </p:cNvPr>
          <p:cNvSpPr txBox="1"/>
          <p:nvPr/>
        </p:nvSpPr>
        <p:spPr>
          <a:xfrm>
            <a:off x="248280" y="381504"/>
            <a:ext cx="7351534" cy="461665"/>
          </a:xfrm>
          <a:prstGeom prst="rect">
            <a:avLst/>
          </a:prstGeom>
          <a:noFill/>
        </p:spPr>
        <p:txBody>
          <a:bodyPr wrap="square" rtlCol="0">
            <a:spAutoFit/>
          </a:bodyPr>
          <a:lstStyle/>
          <a:p>
            <a:r>
              <a:rPr lang="en-US" altLang="zh-CN" sz="2400" b="1" dirty="0">
                <a:solidFill>
                  <a:srgbClr val="0000FF"/>
                </a:solidFill>
                <a:latin typeface="+mj-ea"/>
                <a:ea typeface="+mj-ea"/>
                <a:cs typeface="+mn-ea"/>
                <a:sym typeface="Arial" panose="020B0604020202020204" pitchFamily="34" charset="0"/>
              </a:rPr>
              <a:t>Flash sim</a:t>
            </a:r>
            <a:endParaRPr lang="zh-CN" altLang="en-US" sz="2400" b="1" dirty="0">
              <a:solidFill>
                <a:srgbClr val="0000FF"/>
              </a:solidFill>
              <a:latin typeface="+mj-ea"/>
              <a:ea typeface="+mj-ea"/>
              <a:cs typeface="+mn-ea"/>
              <a:sym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&lt; </a:t>
            </a:r>
            <a:fld id="{A548B57D-AE10-4CF7-A9DF-59FEFA91B28E}" type="slidenum">
              <a:rPr kumimoji="0" lang="zh-CN" altLang="en-US" sz="1200" b="0" i="0" u="none" strike="noStrike" kern="1200" cap="none" spc="0" normalizeH="0" baseline="0" noProof="0" smtClean="0">
                <a:ln>
                  <a:noFill/>
                </a:ln>
                <a:solidFill>
                  <a:srgbClr val="000000">
                    <a:lumMod val="50000"/>
                    <a:lumOff val="50000"/>
                  </a:srgbClr>
                </a:solidFill>
                <a:effectLst/>
                <a:uLnTx/>
                <a:uFillTx/>
                <a:latin typeface="Arial"/>
                <a:ea typeface="微软雅黑"/>
                <a:cs typeface="+mn-cs"/>
                <a:sym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r>
              <a:rPr kumimoji="0" lang="zh-CN" altLang="en-US"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 </a:t>
            </a:r>
            <a:r>
              <a:rPr kumimoji="0" lang="en-US" altLang="zh-CN"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a:ea typeface="微软雅黑"/>
              <a:cs typeface="+mn-cs"/>
              <a:sym typeface="Arial" panose="020B0604020202020204" pitchFamily="34" charset="0"/>
            </a:endParaRPr>
          </a:p>
        </p:txBody>
      </p:sp>
      <p:sp>
        <p:nvSpPr>
          <p:cNvPr id="11" name="文本框 10">
            <a:extLst>
              <a:ext uri="{FF2B5EF4-FFF2-40B4-BE49-F238E27FC236}">
                <a16:creationId xmlns:a16="http://schemas.microsoft.com/office/drawing/2014/main" id="{42F3B516-80BE-4C70-88F4-111ED0937BC2}"/>
              </a:ext>
            </a:extLst>
          </p:cNvPr>
          <p:cNvSpPr txBox="1"/>
          <p:nvPr/>
        </p:nvSpPr>
        <p:spPr>
          <a:xfrm>
            <a:off x="515105" y="995408"/>
            <a:ext cx="11116734" cy="484972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600" dirty="0"/>
              <a:t>目标</a:t>
            </a:r>
            <a:endParaRPr lang="en-US" altLang="zh-CN" sz="1600" dirty="0"/>
          </a:p>
          <a:p>
            <a:pPr marL="800100" lvl="1" indent="-342900">
              <a:lnSpc>
                <a:spcPct val="150000"/>
              </a:lnSpc>
              <a:buFont typeface="Wingdings" panose="05000000000000000000" pitchFamily="2" charset="2"/>
              <a:buChar char="Ø"/>
            </a:pPr>
            <a:r>
              <a:rPr lang="en-US" altLang="zh-CN" sz="1600" dirty="0"/>
              <a:t>Delay</a:t>
            </a:r>
            <a:r>
              <a:rPr lang="zh-CN" altLang="en-US" sz="1600" dirty="0"/>
              <a:t> </a:t>
            </a:r>
            <a:r>
              <a:rPr lang="en-US" altLang="zh-CN" sz="1600" dirty="0"/>
              <a:t>break</a:t>
            </a:r>
            <a:r>
              <a:rPr lang="zh-CN" altLang="en-US" sz="1600" dirty="0"/>
              <a:t> </a:t>
            </a:r>
            <a:r>
              <a:rPr lang="en-US" altLang="zh-CN" sz="1600" dirty="0"/>
              <a:t>down</a:t>
            </a:r>
          </a:p>
          <a:p>
            <a:pPr marL="800100" lvl="1" indent="-342900">
              <a:lnSpc>
                <a:spcPct val="150000"/>
              </a:lnSpc>
              <a:buFont typeface="Wingdings" panose="05000000000000000000" pitchFamily="2" charset="2"/>
              <a:buChar char="Ø"/>
            </a:pPr>
            <a:r>
              <a:rPr lang="en-US" altLang="zh-CN" sz="1600" dirty="0"/>
              <a:t>DSE</a:t>
            </a:r>
          </a:p>
          <a:p>
            <a:pPr marL="800100" lvl="1" indent="-342900">
              <a:lnSpc>
                <a:spcPct val="150000"/>
              </a:lnSpc>
              <a:buFont typeface="Wingdings" panose="05000000000000000000" pitchFamily="2" charset="2"/>
              <a:buChar char="Ø"/>
            </a:pPr>
            <a:r>
              <a:rPr lang="zh-CN" altLang="en-US" sz="1600" dirty="0"/>
              <a:t>支持系统级仿真</a:t>
            </a:r>
            <a:endParaRPr lang="en-US" altLang="zh-CN" sz="1600" dirty="0"/>
          </a:p>
          <a:p>
            <a:pPr marL="800100" lvl="1" indent="-342900">
              <a:lnSpc>
                <a:spcPct val="150000"/>
              </a:lnSpc>
              <a:buFont typeface="Wingdings" panose="05000000000000000000" pitchFamily="2" charset="2"/>
              <a:buChar char="Ø"/>
            </a:pPr>
            <a:r>
              <a:rPr lang="zh-CN" altLang="en-US" sz="1600" dirty="0"/>
              <a:t>支持</a:t>
            </a:r>
            <a:r>
              <a:rPr lang="en-US" altLang="zh-CN" sz="1600" dirty="0"/>
              <a:t>CIM, CAM</a:t>
            </a:r>
          </a:p>
          <a:p>
            <a:pPr lvl="1">
              <a:lnSpc>
                <a:spcPct val="150000"/>
              </a:lnSpc>
            </a:pPr>
            <a:endParaRPr lang="en-US" altLang="zh-CN" sz="1600" dirty="0"/>
          </a:p>
          <a:p>
            <a:pPr marL="342900" indent="-342900">
              <a:lnSpc>
                <a:spcPct val="150000"/>
              </a:lnSpc>
              <a:buFont typeface="Wingdings" panose="05000000000000000000" pitchFamily="2" charset="2"/>
              <a:buChar char="Ø"/>
            </a:pPr>
            <a:r>
              <a:rPr lang="zh-CN" altLang="en-US" sz="1600" dirty="0"/>
              <a:t>参考仿真器</a:t>
            </a:r>
            <a:r>
              <a:rPr lang="en-US" altLang="zh-CN" sz="1600" dirty="0"/>
              <a:t> </a:t>
            </a:r>
          </a:p>
          <a:p>
            <a:pPr marL="800100" lvl="1" indent="-342900">
              <a:lnSpc>
                <a:spcPct val="150000"/>
              </a:lnSpc>
              <a:buFont typeface="Wingdings" panose="05000000000000000000" pitchFamily="2" charset="2"/>
              <a:buChar char="ü"/>
            </a:pPr>
            <a:r>
              <a:rPr lang="zh-CN" altLang="en-US" sz="1600" dirty="0"/>
              <a:t>对于</a:t>
            </a:r>
            <a:r>
              <a:rPr lang="en-US" altLang="zh-CN" sz="1600" dirty="0"/>
              <a:t>3D NAND Flash</a:t>
            </a:r>
            <a:r>
              <a:rPr lang="zh-CN" altLang="en-US" sz="1600" dirty="0"/>
              <a:t>内部的各个模块进行了完整建模</a:t>
            </a:r>
            <a:endParaRPr lang="en-US" altLang="zh-CN" sz="1600" dirty="0"/>
          </a:p>
          <a:p>
            <a:pPr marL="800100" lvl="1" indent="-342900">
              <a:lnSpc>
                <a:spcPct val="150000"/>
              </a:lnSpc>
              <a:buFont typeface="Wingdings" panose="05000000000000000000" pitchFamily="2" charset="2"/>
              <a:buChar char="ü"/>
            </a:pPr>
            <a:r>
              <a:rPr lang="en-US" altLang="zh-CN" sz="1600" dirty="0"/>
              <a:t>Delay break down</a:t>
            </a:r>
          </a:p>
          <a:p>
            <a:pPr marL="800100" lvl="1" indent="-342900">
              <a:lnSpc>
                <a:spcPct val="150000"/>
              </a:lnSpc>
              <a:buFont typeface="Wingdings" panose="05000000000000000000" pitchFamily="2" charset="2"/>
              <a:buChar char="ü"/>
            </a:pPr>
            <a:r>
              <a:rPr lang="zh-CN" altLang="en-US" sz="1600" dirty="0"/>
              <a:t>支持与</a:t>
            </a:r>
            <a:r>
              <a:rPr lang="en-US" altLang="zh-CN" sz="1600" dirty="0"/>
              <a:t>Host</a:t>
            </a:r>
            <a:r>
              <a:rPr lang="zh-CN" altLang="en-US" sz="1600" dirty="0"/>
              <a:t>仿真器联合仿真，评估系统的整体性能</a:t>
            </a:r>
            <a:endParaRPr lang="en-US" altLang="zh-CN" sz="1600" dirty="0"/>
          </a:p>
          <a:p>
            <a:pPr marL="800100" lvl="1" indent="-342900">
              <a:lnSpc>
                <a:spcPct val="150000"/>
              </a:lnSpc>
              <a:buFont typeface="Wingdings" panose="05000000000000000000" pitchFamily="2" charset="2"/>
              <a:buChar char="ü"/>
            </a:pPr>
            <a:endParaRPr lang="en-US" altLang="zh-CN" sz="1600" dirty="0"/>
          </a:p>
          <a:p>
            <a:pPr marL="342900" indent="-342900">
              <a:lnSpc>
                <a:spcPct val="150000"/>
              </a:lnSpc>
              <a:buFont typeface="Wingdings" panose="05000000000000000000" pitchFamily="2" charset="2"/>
              <a:buChar char="Ø"/>
            </a:pPr>
            <a:r>
              <a:rPr lang="zh-CN" altLang="en-US" sz="1600" dirty="0"/>
              <a:t>参考仿真器</a:t>
            </a:r>
            <a:r>
              <a:rPr lang="en-US" altLang="zh-CN" sz="1600" dirty="0" err="1"/>
              <a:t>NeuroSim</a:t>
            </a:r>
            <a:endParaRPr lang="en-US" altLang="zh-CN" sz="1600" dirty="0"/>
          </a:p>
          <a:p>
            <a:pPr marL="800100" lvl="1" indent="-342900">
              <a:lnSpc>
                <a:spcPct val="150000"/>
              </a:lnSpc>
              <a:buFont typeface="Wingdings" panose="05000000000000000000" pitchFamily="2" charset="2"/>
              <a:buChar char="ü"/>
            </a:pPr>
            <a:r>
              <a:rPr lang="zh-CN" altLang="en-US" sz="1600" dirty="0"/>
              <a:t>支持从</a:t>
            </a:r>
            <a:r>
              <a:rPr lang="en-US" altLang="zh-CN" sz="1600" dirty="0"/>
              <a:t>NN</a:t>
            </a:r>
            <a:r>
              <a:rPr lang="zh-CN" altLang="en-US" sz="1600" dirty="0"/>
              <a:t>直接编译生成硬件配置，易用性高</a:t>
            </a:r>
            <a:endParaRPr lang="en-US" altLang="zh-CN" sz="1600" dirty="0"/>
          </a:p>
        </p:txBody>
      </p:sp>
      <p:sp>
        <p:nvSpPr>
          <p:cNvPr id="3" name="文本框 2">
            <a:extLst>
              <a:ext uri="{FF2B5EF4-FFF2-40B4-BE49-F238E27FC236}">
                <a16:creationId xmlns:a16="http://schemas.microsoft.com/office/drawing/2014/main" id="{21FAEB05-16F1-4827-B4F3-0155C44C6F39}"/>
              </a:ext>
            </a:extLst>
          </p:cNvPr>
          <p:cNvSpPr txBox="1"/>
          <p:nvPr/>
        </p:nvSpPr>
        <p:spPr>
          <a:xfrm>
            <a:off x="248280" y="381504"/>
            <a:ext cx="7351534" cy="461665"/>
          </a:xfrm>
          <a:prstGeom prst="rect">
            <a:avLst/>
          </a:prstGeom>
          <a:noFill/>
        </p:spPr>
        <p:txBody>
          <a:bodyPr wrap="square" rtlCol="0">
            <a:spAutoFit/>
          </a:bodyPr>
          <a:lstStyle/>
          <a:p>
            <a:r>
              <a:rPr lang="en-US" altLang="zh-CN" sz="2400" b="1" dirty="0">
                <a:solidFill>
                  <a:srgbClr val="0000FF"/>
                </a:solidFill>
                <a:latin typeface="+mj-ea"/>
                <a:ea typeface="+mj-ea"/>
                <a:cs typeface="+mn-ea"/>
                <a:sym typeface="Arial" panose="020B0604020202020204" pitchFamily="34" charset="0"/>
              </a:rPr>
              <a:t>Flash sim</a:t>
            </a:r>
            <a:endParaRPr lang="zh-CN" altLang="en-US" sz="2400" b="1" dirty="0">
              <a:solidFill>
                <a:srgbClr val="0000FF"/>
              </a:solidFill>
              <a:latin typeface="+mj-ea"/>
              <a:ea typeface="+mj-ea"/>
              <a:cs typeface="+mn-ea"/>
              <a:sym typeface="Arial" panose="020B0604020202020204" pitchFamily="34" charset="0"/>
            </a:endParaRPr>
          </a:p>
        </p:txBody>
      </p:sp>
    </p:spTree>
    <p:extLst>
      <p:ext uri="{BB962C8B-B14F-4D97-AF65-F5344CB8AC3E}">
        <p14:creationId xmlns:p14="http://schemas.microsoft.com/office/powerpoint/2010/main" val="294624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&lt; </a:t>
            </a:r>
            <a:fld id="{A548B57D-AE10-4CF7-A9DF-59FEFA91B28E}" type="slidenum">
              <a:rPr kumimoji="0" lang="zh-CN" altLang="en-US" sz="1200" b="0" i="0" u="none" strike="noStrike" kern="1200" cap="none" spc="0" normalizeH="0" baseline="0" noProof="0" smtClean="0">
                <a:ln>
                  <a:noFill/>
                </a:ln>
                <a:solidFill>
                  <a:srgbClr val="000000">
                    <a:lumMod val="50000"/>
                    <a:lumOff val="50000"/>
                  </a:srgbClr>
                </a:solidFill>
                <a:effectLst/>
                <a:uLnTx/>
                <a:uFillTx/>
                <a:latin typeface="Arial"/>
                <a:ea typeface="微软雅黑"/>
                <a:cs typeface="+mn-cs"/>
                <a:sym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r>
              <a:rPr kumimoji="0" lang="zh-CN" altLang="en-US"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 </a:t>
            </a:r>
            <a:r>
              <a:rPr kumimoji="0" lang="en-US" altLang="zh-CN" sz="1200" b="0" i="0" u="none" strike="noStrike" kern="1200" cap="none" spc="0" normalizeH="0" baseline="0" noProof="0">
                <a:ln>
                  <a:noFill/>
                </a:ln>
                <a:solidFill>
                  <a:srgbClr val="000000">
                    <a:lumMod val="50000"/>
                    <a:lumOff val="50000"/>
                  </a:srgbClr>
                </a:solidFill>
                <a:effectLst/>
                <a:uLnTx/>
                <a:uFillTx/>
                <a:latin typeface="Arial"/>
                <a:ea typeface="微软雅黑"/>
                <a:cs typeface="+mn-cs"/>
                <a:sym typeface="Arial" panose="020B060402020202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a:ea typeface="微软雅黑"/>
              <a:cs typeface="+mn-cs"/>
              <a:sym typeface="Arial" panose="020B0604020202020204" pitchFamily="34" charset="0"/>
            </a:endParaRPr>
          </a:p>
        </p:txBody>
      </p:sp>
      <p:sp>
        <p:nvSpPr>
          <p:cNvPr id="11" name="文本框 10">
            <a:extLst>
              <a:ext uri="{FF2B5EF4-FFF2-40B4-BE49-F238E27FC236}">
                <a16:creationId xmlns:a16="http://schemas.microsoft.com/office/drawing/2014/main" id="{42F3B516-80BE-4C70-88F4-111ED0937BC2}"/>
              </a:ext>
            </a:extLst>
          </p:cNvPr>
          <p:cNvSpPr txBox="1"/>
          <p:nvPr/>
        </p:nvSpPr>
        <p:spPr>
          <a:xfrm>
            <a:off x="515105" y="995408"/>
            <a:ext cx="11116734" cy="3370666"/>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zh-CN" altLang="en-US" sz="1600" dirty="0"/>
              <a:t>现有仿真器：注重于针对</a:t>
            </a:r>
            <a:r>
              <a:rPr lang="en-US" altLang="zh-CN" sz="1600" dirty="0"/>
              <a:t>SSD</a:t>
            </a:r>
            <a:r>
              <a:rPr lang="zh-CN" altLang="en-US" sz="1600" dirty="0"/>
              <a:t>的系统进行精确的建模，为</a:t>
            </a:r>
            <a:r>
              <a:rPr lang="en-US" altLang="zh-CN" sz="1600" dirty="0"/>
              <a:t>workload</a:t>
            </a:r>
            <a:r>
              <a:rPr lang="zh-CN" altLang="en-US" sz="1600" dirty="0"/>
              <a:t>提供精确的延时分析</a:t>
            </a:r>
            <a:endParaRPr lang="en-US" altLang="zh-CN" sz="1600" dirty="0"/>
          </a:p>
          <a:p>
            <a:pPr marL="800100" lvl="1" indent="-342900">
              <a:lnSpc>
                <a:spcPct val="150000"/>
              </a:lnSpc>
              <a:buFont typeface="Arial" panose="020B0604020202020204" pitchFamily="34" charset="0"/>
              <a:buChar char="•"/>
            </a:pPr>
            <a:r>
              <a:rPr lang="en-US" altLang="zh-CN" sz="1600" dirty="0" err="1"/>
              <a:t>MQsim</a:t>
            </a:r>
            <a:r>
              <a:rPr lang="zh-CN" altLang="en-US" sz="1600" dirty="0"/>
              <a:t>系列：传统</a:t>
            </a:r>
            <a:r>
              <a:rPr lang="en-US" altLang="zh-CN" sz="1600" dirty="0"/>
              <a:t>SSD</a:t>
            </a:r>
            <a:r>
              <a:rPr lang="zh-CN" altLang="en-US" sz="1600" dirty="0"/>
              <a:t>，读写操作</a:t>
            </a:r>
            <a:endParaRPr lang="en-US" altLang="zh-CN" sz="1600" dirty="0"/>
          </a:p>
          <a:p>
            <a:pPr marL="800100" lvl="1" indent="-342900">
              <a:lnSpc>
                <a:spcPct val="150000"/>
              </a:lnSpc>
              <a:buFont typeface="Arial" panose="020B0604020202020204" pitchFamily="34" charset="0"/>
              <a:buChar char="•"/>
            </a:pPr>
            <a:r>
              <a:rPr lang="en-US" altLang="zh-CN" sz="1600" dirty="0" err="1"/>
              <a:t>NeuroSim</a:t>
            </a:r>
            <a:r>
              <a:rPr lang="zh-CN" altLang="en-US" sz="1600" dirty="0"/>
              <a:t>：从神经网络编译生成存算阵列（含优化），并仿真得到性能评估</a:t>
            </a:r>
            <a:endParaRPr lang="en-US" altLang="zh-CN" sz="1600" dirty="0"/>
          </a:p>
          <a:p>
            <a:pPr marL="800100" lvl="1" indent="-342900">
              <a:lnSpc>
                <a:spcPct val="150000"/>
              </a:lnSpc>
              <a:buFont typeface="Arial" panose="020B0604020202020204" pitchFamily="34" charset="0"/>
              <a:buChar char="•"/>
            </a:pPr>
            <a:r>
              <a:rPr lang="en-US" altLang="zh-CN" sz="1600" dirty="0" err="1"/>
              <a:t>SwarmIO</a:t>
            </a:r>
            <a:r>
              <a:rPr lang="zh-CN" altLang="en-US" sz="1600" dirty="0"/>
              <a:t>：</a:t>
            </a:r>
            <a:r>
              <a:rPr lang="en-US" altLang="zh-CN" sz="1600" dirty="0"/>
              <a:t>HBF</a:t>
            </a:r>
          </a:p>
          <a:p>
            <a:pPr marL="342900" indent="-342900">
              <a:lnSpc>
                <a:spcPct val="150000"/>
              </a:lnSpc>
              <a:buFont typeface="Wingdings" panose="05000000000000000000" pitchFamily="2" charset="2"/>
              <a:buChar char="Ø"/>
            </a:pPr>
            <a:r>
              <a:rPr lang="en-US" altLang="zh-CN" sz="1600" dirty="0"/>
              <a:t>Flash</a:t>
            </a:r>
            <a:r>
              <a:rPr lang="zh-CN" altLang="en-US" sz="1600" dirty="0"/>
              <a:t> </a:t>
            </a:r>
            <a:r>
              <a:rPr lang="en-US" altLang="zh-CN" sz="1600" dirty="0"/>
              <a:t>sim</a:t>
            </a:r>
            <a:r>
              <a:rPr lang="zh-CN" altLang="en-US" sz="1600" dirty="0"/>
              <a:t>：支持</a:t>
            </a:r>
            <a:r>
              <a:rPr lang="en-US" altLang="zh-CN" sz="1600" dirty="0"/>
              <a:t>3D NAND Flash</a:t>
            </a:r>
            <a:r>
              <a:rPr lang="zh-CN" altLang="en-US" sz="1600" dirty="0"/>
              <a:t>中的读写、</a:t>
            </a:r>
            <a:r>
              <a:rPr lang="en-US" altLang="zh-CN" sz="1600" dirty="0"/>
              <a:t>CAM</a:t>
            </a:r>
            <a:r>
              <a:rPr lang="zh-CN" altLang="en-US" sz="1600" dirty="0"/>
              <a:t>、</a:t>
            </a:r>
            <a:r>
              <a:rPr lang="en-US" altLang="zh-CN" sz="1600" dirty="0"/>
              <a:t>CIM</a:t>
            </a:r>
            <a:r>
              <a:rPr lang="zh-CN" altLang="en-US" sz="1600" dirty="0"/>
              <a:t>混合负载的仿真</a:t>
            </a:r>
            <a:endParaRPr lang="en-US" altLang="zh-CN" sz="1600" dirty="0"/>
          </a:p>
          <a:p>
            <a:pPr marL="800100" lvl="1" indent="-342900">
              <a:lnSpc>
                <a:spcPct val="150000"/>
              </a:lnSpc>
              <a:buFont typeface="Wingdings" panose="05000000000000000000" pitchFamily="2" charset="2"/>
              <a:buChar char="Ø"/>
            </a:pPr>
            <a:r>
              <a:rPr lang="zh-CN" altLang="en-US" sz="1600" dirty="0"/>
              <a:t>支持自由配置</a:t>
            </a:r>
            <a:r>
              <a:rPr lang="en-US" altLang="zh-CN" sz="1600" dirty="0"/>
              <a:t>CAM/CIM</a:t>
            </a:r>
            <a:r>
              <a:rPr lang="zh-CN" altLang="en-US" sz="1600" dirty="0"/>
              <a:t>区域划分</a:t>
            </a:r>
            <a:endParaRPr lang="en-US" altLang="zh-CN" sz="1600" dirty="0"/>
          </a:p>
          <a:p>
            <a:pPr marL="800100" lvl="1" indent="-342900">
              <a:lnSpc>
                <a:spcPct val="150000"/>
              </a:lnSpc>
              <a:buFont typeface="Wingdings" panose="05000000000000000000" pitchFamily="2" charset="2"/>
              <a:buChar char="Ø"/>
            </a:pPr>
            <a:r>
              <a:rPr lang="zh-CN" altLang="en-US" sz="1600" dirty="0"/>
              <a:t>输入软件程序，输出性能评估（延时，能耗，</a:t>
            </a:r>
            <a:r>
              <a:rPr lang="en-US" altLang="zh-CN" sz="1600" dirty="0"/>
              <a:t>…</a:t>
            </a:r>
            <a:r>
              <a:rPr lang="zh-CN" altLang="en-US" sz="1600" dirty="0"/>
              <a:t>）。</a:t>
            </a:r>
            <a:r>
              <a:rPr lang="en-US" altLang="zh-CN" sz="1600" dirty="0"/>
              <a:t>CAM/CIM</a:t>
            </a:r>
            <a:r>
              <a:rPr lang="zh-CN" altLang="en-US" sz="1600" dirty="0"/>
              <a:t>区域划分和指令流的生成由仿真器完成</a:t>
            </a:r>
            <a:endParaRPr lang="en-US" altLang="zh-CN" sz="1600" dirty="0"/>
          </a:p>
          <a:p>
            <a:pPr marL="800100" lvl="1" indent="-342900">
              <a:lnSpc>
                <a:spcPct val="150000"/>
              </a:lnSpc>
              <a:buFont typeface="Wingdings" panose="05000000000000000000" pitchFamily="2" charset="2"/>
              <a:buChar char="p"/>
            </a:pPr>
            <a:r>
              <a:rPr lang="zh-CN" altLang="en-US" sz="1600" dirty="0"/>
              <a:t>缺</a:t>
            </a:r>
            <a:r>
              <a:rPr lang="en-US" altLang="zh-CN" sz="1600" dirty="0"/>
              <a:t>timing</a:t>
            </a:r>
            <a:r>
              <a:rPr lang="zh-CN" altLang="en-US" sz="1600" dirty="0"/>
              <a:t>数据</a:t>
            </a:r>
            <a:endParaRPr lang="en-US" altLang="zh-CN" sz="1600" dirty="0"/>
          </a:p>
          <a:p>
            <a:pPr marL="800100" lvl="1" indent="-342900">
              <a:lnSpc>
                <a:spcPct val="150000"/>
              </a:lnSpc>
              <a:buFont typeface="Wingdings" panose="05000000000000000000" pitchFamily="2" charset="2"/>
              <a:buChar char="p"/>
            </a:pPr>
            <a:r>
              <a:rPr lang="zh-CN" altLang="en-US" sz="1600" dirty="0"/>
              <a:t>跑</a:t>
            </a:r>
            <a:r>
              <a:rPr lang="en-US" altLang="zh-CN" sz="1600" dirty="0"/>
              <a:t>AI</a:t>
            </a:r>
            <a:r>
              <a:rPr lang="zh-CN" altLang="en-US" sz="1600" dirty="0"/>
              <a:t>模型的</a:t>
            </a:r>
            <a:r>
              <a:rPr lang="en-US" altLang="zh-CN" sz="1600" dirty="0"/>
              <a:t>demo</a:t>
            </a:r>
            <a:r>
              <a:rPr lang="zh-CN" altLang="en-US" sz="1600"/>
              <a:t>数据规模较大，数据管理有压力（可以先尝试在服务器上跑）</a:t>
            </a:r>
            <a:endParaRPr lang="en-US" altLang="zh-CN" sz="1600" dirty="0"/>
          </a:p>
        </p:txBody>
      </p:sp>
      <p:sp>
        <p:nvSpPr>
          <p:cNvPr id="3" name="文本框 2">
            <a:extLst>
              <a:ext uri="{FF2B5EF4-FFF2-40B4-BE49-F238E27FC236}">
                <a16:creationId xmlns:a16="http://schemas.microsoft.com/office/drawing/2014/main" id="{21FAEB05-16F1-4827-B4F3-0155C44C6F39}"/>
              </a:ext>
            </a:extLst>
          </p:cNvPr>
          <p:cNvSpPr txBox="1"/>
          <p:nvPr/>
        </p:nvSpPr>
        <p:spPr>
          <a:xfrm>
            <a:off x="248280" y="381504"/>
            <a:ext cx="7351534" cy="461665"/>
          </a:xfrm>
          <a:prstGeom prst="rect">
            <a:avLst/>
          </a:prstGeom>
          <a:noFill/>
        </p:spPr>
        <p:txBody>
          <a:bodyPr wrap="square" rtlCol="0">
            <a:spAutoFit/>
          </a:bodyPr>
          <a:lstStyle/>
          <a:p>
            <a:r>
              <a:rPr lang="en-US" altLang="zh-CN" sz="2400" b="1" dirty="0">
                <a:solidFill>
                  <a:srgbClr val="0000FF"/>
                </a:solidFill>
                <a:latin typeface="+mj-ea"/>
                <a:ea typeface="+mj-ea"/>
                <a:cs typeface="+mn-ea"/>
                <a:sym typeface="Arial" panose="020B0604020202020204" pitchFamily="34" charset="0"/>
              </a:rPr>
              <a:t>Flash sim</a:t>
            </a:r>
            <a:endParaRPr lang="zh-CN" altLang="en-US" sz="2400" b="1" dirty="0">
              <a:solidFill>
                <a:srgbClr val="0000FF"/>
              </a:solidFill>
              <a:latin typeface="+mj-ea"/>
              <a:ea typeface="+mj-ea"/>
              <a:cs typeface="+mn-ea"/>
              <a:sym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4AC0BF2-7319-47DD-97BB-D3B1BD9143E4}"/>
              </a:ext>
            </a:extLst>
          </p:cNvPr>
          <p:cNvSpPr/>
          <p:nvPr/>
        </p:nvSpPr>
        <p:spPr>
          <a:xfrm>
            <a:off x="848346" y="1510762"/>
            <a:ext cx="10895271" cy="5883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5" name="文本框 4">
            <a:extLst>
              <a:ext uri="{FF2B5EF4-FFF2-40B4-BE49-F238E27FC236}">
                <a16:creationId xmlns:a16="http://schemas.microsoft.com/office/drawing/2014/main" id="{F40A7C2E-7434-42FC-BAFC-F9B7E3CC44C0}"/>
              </a:ext>
            </a:extLst>
          </p:cNvPr>
          <p:cNvSpPr txBox="1"/>
          <p:nvPr/>
        </p:nvSpPr>
        <p:spPr>
          <a:xfrm>
            <a:off x="933949" y="1683017"/>
            <a:ext cx="81780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Engine</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6" name="矩形 5">
            <a:extLst>
              <a:ext uri="{FF2B5EF4-FFF2-40B4-BE49-F238E27FC236}">
                <a16:creationId xmlns:a16="http://schemas.microsoft.com/office/drawing/2014/main" id="{32A4EF71-015C-4F2F-80BE-921A9679E1A7}"/>
              </a:ext>
            </a:extLst>
          </p:cNvPr>
          <p:cNvSpPr/>
          <p:nvPr/>
        </p:nvSpPr>
        <p:spPr>
          <a:xfrm>
            <a:off x="2768115" y="1664780"/>
            <a:ext cx="7959144" cy="43949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ysClr val="windowText" lastClr="000000"/>
                </a:solidFill>
                <a:effectLst/>
                <a:uLnTx/>
                <a:uFillTx/>
                <a:latin typeface="Calibri"/>
                <a:ea typeface="微软雅黑" panose="020B0503020204020204" pitchFamily="34" charset="-122"/>
                <a:cs typeface="+mn-cs"/>
              </a:rPr>
              <a:t>Event Priority Queue</a:t>
            </a:r>
            <a:endParaRPr kumimoji="0" lang="zh-CN" altLang="en-US" sz="1800" b="0" i="0" u="none" strike="noStrike" kern="1200" cap="none" spc="0" normalizeH="0" baseline="0" noProof="0" dirty="0">
              <a:ln>
                <a:noFill/>
              </a:ln>
              <a:solidFill>
                <a:sysClr val="windowText" lastClr="000000"/>
              </a:solidFill>
              <a:effectLst/>
              <a:uLnTx/>
              <a:uFillTx/>
              <a:latin typeface="Calibri"/>
              <a:ea typeface="微软雅黑" panose="020B0503020204020204" pitchFamily="34" charset="-122"/>
              <a:cs typeface="+mn-cs"/>
            </a:endParaRPr>
          </a:p>
        </p:txBody>
      </p:sp>
      <p:sp>
        <p:nvSpPr>
          <p:cNvPr id="7" name="矩形 6">
            <a:extLst>
              <a:ext uri="{FF2B5EF4-FFF2-40B4-BE49-F238E27FC236}">
                <a16:creationId xmlns:a16="http://schemas.microsoft.com/office/drawing/2014/main" id="{D0A4D757-9C23-41F2-B8A4-20EA6B41627E}"/>
              </a:ext>
            </a:extLst>
          </p:cNvPr>
          <p:cNvSpPr/>
          <p:nvPr/>
        </p:nvSpPr>
        <p:spPr>
          <a:xfrm>
            <a:off x="1345903" y="2310155"/>
            <a:ext cx="10400764" cy="2584450"/>
          </a:xfrm>
          <a:prstGeom prst="rect">
            <a:avLst/>
          </a:prstGeom>
          <a:noFill/>
          <a:ln>
            <a:prstDash val="dash"/>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8" name="文本框 7">
            <a:extLst>
              <a:ext uri="{FF2B5EF4-FFF2-40B4-BE49-F238E27FC236}">
                <a16:creationId xmlns:a16="http://schemas.microsoft.com/office/drawing/2014/main" id="{F3A213D0-A409-4F16-ADCB-1FDE3A03D5B0}"/>
              </a:ext>
            </a:extLst>
          </p:cNvPr>
          <p:cNvSpPr txBox="1"/>
          <p:nvPr/>
        </p:nvSpPr>
        <p:spPr>
          <a:xfrm>
            <a:off x="1345903" y="2310154"/>
            <a:ext cx="90581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Objects</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9" name="矩形 8">
            <a:extLst>
              <a:ext uri="{FF2B5EF4-FFF2-40B4-BE49-F238E27FC236}">
                <a16:creationId xmlns:a16="http://schemas.microsoft.com/office/drawing/2014/main" id="{C82A6CA7-70F8-48CE-BCB7-C22C1B9B5EEF}"/>
              </a:ext>
            </a:extLst>
          </p:cNvPr>
          <p:cNvSpPr/>
          <p:nvPr/>
        </p:nvSpPr>
        <p:spPr>
          <a:xfrm>
            <a:off x="1560648" y="2754564"/>
            <a:ext cx="844186" cy="19295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10" name="矩形 9">
            <a:extLst>
              <a:ext uri="{FF2B5EF4-FFF2-40B4-BE49-F238E27FC236}">
                <a16:creationId xmlns:a16="http://schemas.microsoft.com/office/drawing/2014/main" id="{F55A95B3-AF42-4B65-A8D4-E219A3C0A3E8}"/>
              </a:ext>
            </a:extLst>
          </p:cNvPr>
          <p:cNvSpPr/>
          <p:nvPr/>
        </p:nvSpPr>
        <p:spPr>
          <a:xfrm>
            <a:off x="3242319" y="2754564"/>
            <a:ext cx="1895376" cy="19295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11" name="矩形 10">
            <a:extLst>
              <a:ext uri="{FF2B5EF4-FFF2-40B4-BE49-F238E27FC236}">
                <a16:creationId xmlns:a16="http://schemas.microsoft.com/office/drawing/2014/main" id="{6C3CEA88-7FD3-4CFC-9887-C1D53D72B62A}"/>
              </a:ext>
            </a:extLst>
          </p:cNvPr>
          <p:cNvSpPr/>
          <p:nvPr/>
        </p:nvSpPr>
        <p:spPr>
          <a:xfrm>
            <a:off x="5797895" y="2754564"/>
            <a:ext cx="3532502" cy="19295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13" name="矩形 12">
            <a:extLst>
              <a:ext uri="{FF2B5EF4-FFF2-40B4-BE49-F238E27FC236}">
                <a16:creationId xmlns:a16="http://schemas.microsoft.com/office/drawing/2014/main" id="{5D1E7AD6-1891-423D-B411-0616E5DBA7DE}"/>
              </a:ext>
            </a:extLst>
          </p:cNvPr>
          <p:cNvSpPr/>
          <p:nvPr/>
        </p:nvSpPr>
        <p:spPr>
          <a:xfrm>
            <a:off x="3988942" y="2980336"/>
            <a:ext cx="1004022" cy="709785"/>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14" name="箭头: 左右 13">
            <a:extLst>
              <a:ext uri="{FF2B5EF4-FFF2-40B4-BE49-F238E27FC236}">
                <a16:creationId xmlns:a16="http://schemas.microsoft.com/office/drawing/2014/main" id="{7CEE7574-7447-4547-9A29-7C28D31D3E0C}"/>
              </a:ext>
            </a:extLst>
          </p:cNvPr>
          <p:cNvSpPr/>
          <p:nvPr/>
        </p:nvSpPr>
        <p:spPr>
          <a:xfrm>
            <a:off x="5176022" y="3586063"/>
            <a:ext cx="585386" cy="289774"/>
          </a:xfrm>
          <a:prstGeom prst="leftRightArrow">
            <a:avLst>
              <a:gd name="adj1" fmla="val 23333"/>
              <a:gd name="adj2" fmla="val 3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15" name="文本框 14">
            <a:extLst>
              <a:ext uri="{FF2B5EF4-FFF2-40B4-BE49-F238E27FC236}">
                <a16:creationId xmlns:a16="http://schemas.microsoft.com/office/drawing/2014/main" id="{D349973D-B75F-4D7E-A9B9-7DA642722A9A}"/>
              </a:ext>
            </a:extLst>
          </p:cNvPr>
          <p:cNvSpPr txBox="1"/>
          <p:nvPr/>
        </p:nvSpPr>
        <p:spPr>
          <a:xfrm>
            <a:off x="4013683" y="2980336"/>
            <a:ext cx="109922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Cache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Manager</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17" name="矩形 16">
            <a:extLst>
              <a:ext uri="{FF2B5EF4-FFF2-40B4-BE49-F238E27FC236}">
                <a16:creationId xmlns:a16="http://schemas.microsoft.com/office/drawing/2014/main" id="{50981815-73FB-4228-8AC2-D25A92A47FC0}"/>
              </a:ext>
            </a:extLst>
          </p:cNvPr>
          <p:cNvSpPr/>
          <p:nvPr/>
        </p:nvSpPr>
        <p:spPr>
          <a:xfrm>
            <a:off x="9783577" y="2456346"/>
            <a:ext cx="1794627" cy="22900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18" name="矩形 17">
            <a:extLst>
              <a:ext uri="{FF2B5EF4-FFF2-40B4-BE49-F238E27FC236}">
                <a16:creationId xmlns:a16="http://schemas.microsoft.com/office/drawing/2014/main" id="{60B83CB9-7C21-49FD-8973-D4CE217CA453}"/>
              </a:ext>
            </a:extLst>
          </p:cNvPr>
          <p:cNvSpPr/>
          <p:nvPr/>
        </p:nvSpPr>
        <p:spPr>
          <a:xfrm>
            <a:off x="8779819" y="3073683"/>
            <a:ext cx="552450" cy="1316129"/>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TSU</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0" name="矩形 19">
            <a:extLst>
              <a:ext uri="{FF2B5EF4-FFF2-40B4-BE49-F238E27FC236}">
                <a16:creationId xmlns:a16="http://schemas.microsoft.com/office/drawing/2014/main" id="{97C82CCD-BA7C-4EB2-983B-EFC1E59EF21B}"/>
              </a:ext>
            </a:extLst>
          </p:cNvPr>
          <p:cNvSpPr/>
          <p:nvPr/>
        </p:nvSpPr>
        <p:spPr>
          <a:xfrm>
            <a:off x="1869924" y="4051231"/>
            <a:ext cx="538648" cy="4699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root</a:t>
            </a:r>
            <a:endParaRPr kumimoji="0" lang="zh-CN" altLang="en-US" sz="14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1" name="文本框 20">
            <a:extLst>
              <a:ext uri="{FF2B5EF4-FFF2-40B4-BE49-F238E27FC236}">
                <a16:creationId xmlns:a16="http://schemas.microsoft.com/office/drawing/2014/main" id="{6A8048A4-18BF-45B4-BA12-E93F4B9BA42B}"/>
              </a:ext>
            </a:extLst>
          </p:cNvPr>
          <p:cNvSpPr txBox="1"/>
          <p:nvPr/>
        </p:nvSpPr>
        <p:spPr>
          <a:xfrm>
            <a:off x="7202632" y="2799027"/>
            <a:ext cx="55799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FTL</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2" name="文本框 21">
            <a:extLst>
              <a:ext uri="{FF2B5EF4-FFF2-40B4-BE49-F238E27FC236}">
                <a16:creationId xmlns:a16="http://schemas.microsoft.com/office/drawing/2014/main" id="{8E53751E-B786-4F4C-B086-7AACC2BEA67C}"/>
              </a:ext>
            </a:extLst>
          </p:cNvPr>
          <p:cNvSpPr txBox="1"/>
          <p:nvPr/>
        </p:nvSpPr>
        <p:spPr>
          <a:xfrm>
            <a:off x="3424676" y="2761654"/>
            <a:ext cx="55799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HIL</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1C6D302D-CCE2-40A7-82C9-685010401CF8}"/>
              </a:ext>
            </a:extLst>
          </p:cNvPr>
          <p:cNvSpPr txBox="1"/>
          <p:nvPr/>
        </p:nvSpPr>
        <p:spPr>
          <a:xfrm>
            <a:off x="1657506" y="2761654"/>
            <a:ext cx="6605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Host</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4" name="矩形 23">
            <a:extLst>
              <a:ext uri="{FF2B5EF4-FFF2-40B4-BE49-F238E27FC236}">
                <a16:creationId xmlns:a16="http://schemas.microsoft.com/office/drawing/2014/main" id="{C17837E2-3CEB-40B2-945C-1A08319D630A}"/>
              </a:ext>
            </a:extLst>
          </p:cNvPr>
          <p:cNvSpPr/>
          <p:nvPr/>
        </p:nvSpPr>
        <p:spPr>
          <a:xfrm>
            <a:off x="2408423" y="4051698"/>
            <a:ext cx="837631" cy="4699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link</a:t>
            </a:r>
            <a:endParaRPr kumimoji="0" lang="zh-CN" altLang="en-US" sz="14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5" name="矩形 24">
            <a:extLst>
              <a:ext uri="{FF2B5EF4-FFF2-40B4-BE49-F238E27FC236}">
                <a16:creationId xmlns:a16="http://schemas.microsoft.com/office/drawing/2014/main" id="{6E0A42B5-BC5A-40AA-BF3D-C8A5007DBAB6}"/>
              </a:ext>
            </a:extLst>
          </p:cNvPr>
          <p:cNvSpPr/>
          <p:nvPr/>
        </p:nvSpPr>
        <p:spPr>
          <a:xfrm>
            <a:off x="3247270" y="4051409"/>
            <a:ext cx="688781" cy="4699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switch</a:t>
            </a:r>
            <a:endParaRPr kumimoji="0" lang="zh-CN" altLang="en-US" sz="14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26" name="矩形 25">
            <a:extLst>
              <a:ext uri="{FF2B5EF4-FFF2-40B4-BE49-F238E27FC236}">
                <a16:creationId xmlns:a16="http://schemas.microsoft.com/office/drawing/2014/main" id="{17181F4C-41AD-4C34-BCCB-968545C092BC}"/>
              </a:ext>
            </a:extLst>
          </p:cNvPr>
          <p:cNvSpPr/>
          <p:nvPr/>
        </p:nvSpPr>
        <p:spPr>
          <a:xfrm>
            <a:off x="98702" y="3312087"/>
            <a:ext cx="1080882" cy="74273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config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workload</a:t>
            </a:r>
            <a:endParaRPr kumimoji="0" lang="zh-CN" altLang="en-US"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27" name="箭头: 右 26">
            <a:extLst>
              <a:ext uri="{FF2B5EF4-FFF2-40B4-BE49-F238E27FC236}">
                <a16:creationId xmlns:a16="http://schemas.microsoft.com/office/drawing/2014/main" id="{1B87AF85-CCFD-4C20-B131-55BB1CB50393}"/>
              </a:ext>
            </a:extLst>
          </p:cNvPr>
          <p:cNvSpPr/>
          <p:nvPr/>
        </p:nvSpPr>
        <p:spPr>
          <a:xfrm>
            <a:off x="1198333" y="3478505"/>
            <a:ext cx="322439" cy="311199"/>
          </a:xfrm>
          <a:prstGeom prst="rightArrow">
            <a:avLst>
              <a:gd name="adj1" fmla="val 45919"/>
              <a:gd name="adj2" fmla="val 29595"/>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28" name="矩形 27">
            <a:extLst>
              <a:ext uri="{FF2B5EF4-FFF2-40B4-BE49-F238E27FC236}">
                <a16:creationId xmlns:a16="http://schemas.microsoft.com/office/drawing/2014/main" id="{8E9DAA08-C43C-4C45-8966-7409E8B6FCA6}"/>
              </a:ext>
            </a:extLst>
          </p:cNvPr>
          <p:cNvSpPr/>
          <p:nvPr/>
        </p:nvSpPr>
        <p:spPr>
          <a:xfrm>
            <a:off x="4052054" y="3690121"/>
            <a:ext cx="842474" cy="70978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29" name="文本框 28">
            <a:extLst>
              <a:ext uri="{FF2B5EF4-FFF2-40B4-BE49-F238E27FC236}">
                <a16:creationId xmlns:a16="http://schemas.microsoft.com/office/drawing/2014/main" id="{905642A1-4289-403B-ADDE-5A211FE4A057}"/>
              </a:ext>
            </a:extLst>
          </p:cNvPr>
          <p:cNvSpPr txBox="1"/>
          <p:nvPr/>
        </p:nvSpPr>
        <p:spPr>
          <a:xfrm>
            <a:off x="4047572" y="3730950"/>
            <a:ext cx="82529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Write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Cache</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nvGrpSpPr>
          <p:cNvPr id="30" name="组合 29">
            <a:extLst>
              <a:ext uri="{FF2B5EF4-FFF2-40B4-BE49-F238E27FC236}">
                <a16:creationId xmlns:a16="http://schemas.microsoft.com/office/drawing/2014/main" id="{5E14BAB2-5EC6-4369-B196-1E742DD95FD3}"/>
              </a:ext>
            </a:extLst>
          </p:cNvPr>
          <p:cNvGrpSpPr/>
          <p:nvPr/>
        </p:nvGrpSpPr>
        <p:grpSpPr>
          <a:xfrm>
            <a:off x="5930177" y="3257324"/>
            <a:ext cx="2300455" cy="1323284"/>
            <a:chOff x="5493731" y="2656560"/>
            <a:chExt cx="2300455" cy="1323284"/>
          </a:xfrm>
        </p:grpSpPr>
        <p:sp>
          <p:nvSpPr>
            <p:cNvPr id="31" name="矩形 30">
              <a:extLst>
                <a:ext uri="{FF2B5EF4-FFF2-40B4-BE49-F238E27FC236}">
                  <a16:creationId xmlns:a16="http://schemas.microsoft.com/office/drawing/2014/main" id="{EC580B1F-5D1A-4FFA-BC39-3116E02CC168}"/>
                </a:ext>
              </a:extLst>
            </p:cNvPr>
            <p:cNvSpPr/>
            <p:nvPr/>
          </p:nvSpPr>
          <p:spPr>
            <a:xfrm>
              <a:off x="5493731" y="2656560"/>
              <a:ext cx="1073150" cy="93345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Address Mapping Unit</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32" name="矩形 31">
              <a:extLst>
                <a:ext uri="{FF2B5EF4-FFF2-40B4-BE49-F238E27FC236}">
                  <a16:creationId xmlns:a16="http://schemas.microsoft.com/office/drawing/2014/main" id="{F223C9DA-CD8D-4717-8E09-1343EA771AB0}"/>
                </a:ext>
              </a:extLst>
            </p:cNvPr>
            <p:cNvSpPr/>
            <p:nvPr/>
          </p:nvSpPr>
          <p:spPr>
            <a:xfrm>
              <a:off x="6711033" y="3355529"/>
              <a:ext cx="1073150" cy="581422"/>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Block Manager</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33" name="矩形 32">
              <a:extLst>
                <a:ext uri="{FF2B5EF4-FFF2-40B4-BE49-F238E27FC236}">
                  <a16:creationId xmlns:a16="http://schemas.microsoft.com/office/drawing/2014/main" id="{A3E08BC2-9A3D-422E-9F74-A4BB3A6DB21A}"/>
                </a:ext>
              </a:extLst>
            </p:cNvPr>
            <p:cNvSpPr/>
            <p:nvPr/>
          </p:nvSpPr>
          <p:spPr>
            <a:xfrm>
              <a:off x="6721036" y="2656560"/>
              <a:ext cx="1073150" cy="58142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GC and WL Unit</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nvGrpSpPr>
            <p:cNvPr id="34" name="组合 33">
              <a:extLst>
                <a:ext uri="{FF2B5EF4-FFF2-40B4-BE49-F238E27FC236}">
                  <a16:creationId xmlns:a16="http://schemas.microsoft.com/office/drawing/2014/main" id="{DE3881D9-A25C-4C86-9CA8-82A2346BED7B}"/>
                </a:ext>
              </a:extLst>
            </p:cNvPr>
            <p:cNvGrpSpPr/>
            <p:nvPr/>
          </p:nvGrpSpPr>
          <p:grpSpPr>
            <a:xfrm>
              <a:off x="5526090" y="3596269"/>
              <a:ext cx="1010817" cy="383575"/>
              <a:chOff x="5507218" y="3658056"/>
              <a:chExt cx="1010817" cy="383575"/>
            </a:xfrm>
          </p:grpSpPr>
          <p:sp>
            <p:nvSpPr>
              <p:cNvPr id="35" name="矩形 34">
                <a:extLst>
                  <a:ext uri="{FF2B5EF4-FFF2-40B4-BE49-F238E27FC236}">
                    <a16:creationId xmlns:a16="http://schemas.microsoft.com/office/drawing/2014/main" id="{770B7FB3-1FF8-4951-933E-A01EB8A4D18F}"/>
                  </a:ext>
                </a:extLst>
              </p:cNvPr>
              <p:cNvSpPr/>
              <p:nvPr/>
            </p:nvSpPr>
            <p:spPr>
              <a:xfrm>
                <a:off x="5507218" y="3658056"/>
                <a:ext cx="1004022" cy="38357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6" name="文本框 35">
                <a:extLst>
                  <a:ext uri="{FF2B5EF4-FFF2-40B4-BE49-F238E27FC236}">
                    <a16:creationId xmlns:a16="http://schemas.microsoft.com/office/drawing/2014/main" id="{AFF4B847-6AD5-4B40-9C56-D35D9590BA4E}"/>
                  </a:ext>
                </a:extLst>
              </p:cNvPr>
              <p:cNvSpPr txBox="1"/>
              <p:nvPr/>
            </p:nvSpPr>
            <p:spPr>
              <a:xfrm>
                <a:off x="5692739" y="3665177"/>
                <a:ext cx="82529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CMT</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grpSp>
      <p:grpSp>
        <p:nvGrpSpPr>
          <p:cNvPr id="61" name="组合 60">
            <a:extLst>
              <a:ext uri="{FF2B5EF4-FFF2-40B4-BE49-F238E27FC236}">
                <a16:creationId xmlns:a16="http://schemas.microsoft.com/office/drawing/2014/main" id="{2813A056-91AD-4D17-AD2E-7E221737F5D8}"/>
              </a:ext>
            </a:extLst>
          </p:cNvPr>
          <p:cNvGrpSpPr/>
          <p:nvPr/>
        </p:nvGrpSpPr>
        <p:grpSpPr>
          <a:xfrm>
            <a:off x="10711386" y="2840723"/>
            <a:ext cx="779809" cy="655271"/>
            <a:chOff x="10749617" y="1563544"/>
            <a:chExt cx="779809" cy="655271"/>
          </a:xfrm>
        </p:grpSpPr>
        <p:sp>
          <p:nvSpPr>
            <p:cNvPr id="12" name="矩形 11">
              <a:extLst>
                <a:ext uri="{FF2B5EF4-FFF2-40B4-BE49-F238E27FC236}">
                  <a16:creationId xmlns:a16="http://schemas.microsoft.com/office/drawing/2014/main" id="{99254E72-B3AA-4734-99A8-10643BB3C36A}"/>
                </a:ext>
              </a:extLst>
            </p:cNvPr>
            <p:cNvSpPr/>
            <p:nvPr/>
          </p:nvSpPr>
          <p:spPr>
            <a:xfrm>
              <a:off x="10749617" y="1563544"/>
              <a:ext cx="779809" cy="65527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37" name="文本框 36">
              <a:extLst>
                <a:ext uri="{FF2B5EF4-FFF2-40B4-BE49-F238E27FC236}">
                  <a16:creationId xmlns:a16="http://schemas.microsoft.com/office/drawing/2014/main" id="{E1AF4B34-7DDB-4B41-90B0-067E54D06A9B}"/>
                </a:ext>
              </a:extLst>
            </p:cNvPr>
            <p:cNvSpPr txBox="1"/>
            <p:nvPr/>
          </p:nvSpPr>
          <p:spPr>
            <a:xfrm>
              <a:off x="10786227" y="1570417"/>
              <a:ext cx="706591" cy="2284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Flash Chips</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sp>
        <p:nvSpPr>
          <p:cNvPr id="38" name="箭头: 左右 37">
            <a:extLst>
              <a:ext uri="{FF2B5EF4-FFF2-40B4-BE49-F238E27FC236}">
                <a16:creationId xmlns:a16="http://schemas.microsoft.com/office/drawing/2014/main" id="{BAA34411-B964-40EE-8420-AAD0ADC8974D}"/>
              </a:ext>
            </a:extLst>
          </p:cNvPr>
          <p:cNvSpPr/>
          <p:nvPr/>
        </p:nvSpPr>
        <p:spPr>
          <a:xfrm rot="10800000">
            <a:off x="9359916" y="3570568"/>
            <a:ext cx="392269" cy="289774"/>
          </a:xfrm>
          <a:prstGeom prst="leftRightArrow">
            <a:avLst>
              <a:gd name="adj1" fmla="val 23333"/>
              <a:gd name="adj2" fmla="val 3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490635B5-18C6-4376-AD87-DF90ABBF82AA}"/>
              </a:ext>
            </a:extLst>
          </p:cNvPr>
          <p:cNvSpPr txBox="1"/>
          <p:nvPr/>
        </p:nvSpPr>
        <p:spPr>
          <a:xfrm>
            <a:off x="2519507" y="3754831"/>
            <a:ext cx="66356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75BD42">
                    <a:lumMod val="75000"/>
                  </a:srgbClr>
                </a:solidFill>
                <a:effectLst/>
                <a:uLnTx/>
                <a:uFillTx/>
                <a:latin typeface="Calibri"/>
                <a:ea typeface="微软雅黑" panose="020B0503020204020204" pitchFamily="34" charset="-122"/>
                <a:cs typeface="+mn-cs"/>
              </a:rPr>
              <a:t>PCIe</a:t>
            </a:r>
            <a:endParaRPr kumimoji="0" lang="zh-CN" altLang="en-US" sz="1600" b="0" i="0" u="none" strike="noStrike" kern="1200" cap="none" spc="0" normalizeH="0" baseline="0" noProof="0" dirty="0">
              <a:ln>
                <a:noFill/>
              </a:ln>
              <a:solidFill>
                <a:srgbClr val="75BD42">
                  <a:lumMod val="75000"/>
                </a:srgbClr>
              </a:solidFill>
              <a:effectLst/>
              <a:uLnTx/>
              <a:uFillTx/>
              <a:latin typeface="Calibri"/>
              <a:ea typeface="微软雅黑" panose="020B0503020204020204" pitchFamily="34" charset="-122"/>
              <a:cs typeface="+mn-cs"/>
            </a:endParaRPr>
          </a:p>
        </p:txBody>
      </p:sp>
      <p:sp>
        <p:nvSpPr>
          <p:cNvPr id="40" name="文本框 39">
            <a:extLst>
              <a:ext uri="{FF2B5EF4-FFF2-40B4-BE49-F238E27FC236}">
                <a16:creationId xmlns:a16="http://schemas.microsoft.com/office/drawing/2014/main" id="{BCCB3C8B-1759-4DAF-90D2-EECF2408B703}"/>
              </a:ext>
            </a:extLst>
          </p:cNvPr>
          <p:cNvSpPr txBox="1"/>
          <p:nvPr/>
        </p:nvSpPr>
        <p:spPr>
          <a:xfrm>
            <a:off x="2485460" y="4469890"/>
            <a:ext cx="74717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requests</a:t>
            </a:r>
            <a:endParaRPr kumimoji="0" lang="zh-CN" altLang="en-US" sz="12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41" name="文本框 40">
            <a:extLst>
              <a:ext uri="{FF2B5EF4-FFF2-40B4-BE49-F238E27FC236}">
                <a16:creationId xmlns:a16="http://schemas.microsoft.com/office/drawing/2014/main" id="{0FFFD14F-8FEE-49E4-B8A0-CEE85A1FFE35}"/>
              </a:ext>
            </a:extLst>
          </p:cNvPr>
          <p:cNvSpPr txBox="1"/>
          <p:nvPr/>
        </p:nvSpPr>
        <p:spPr>
          <a:xfrm>
            <a:off x="5102434" y="3844927"/>
            <a:ext cx="100402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transactions</a:t>
            </a:r>
            <a:endParaRPr kumimoji="0" lang="zh-CN" altLang="en-US" sz="12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grpSp>
        <p:nvGrpSpPr>
          <p:cNvPr id="43" name="组合 42">
            <a:extLst>
              <a:ext uri="{FF2B5EF4-FFF2-40B4-BE49-F238E27FC236}">
                <a16:creationId xmlns:a16="http://schemas.microsoft.com/office/drawing/2014/main" id="{DF084BEA-C4F0-4FEF-918D-D4364A5F727A}"/>
              </a:ext>
            </a:extLst>
          </p:cNvPr>
          <p:cNvGrpSpPr/>
          <p:nvPr/>
        </p:nvGrpSpPr>
        <p:grpSpPr>
          <a:xfrm>
            <a:off x="6462488" y="2035108"/>
            <a:ext cx="403731" cy="335798"/>
            <a:chOff x="4343400" y="334927"/>
            <a:chExt cx="403731" cy="335798"/>
          </a:xfrm>
        </p:grpSpPr>
        <p:sp>
          <p:nvSpPr>
            <p:cNvPr id="44" name="箭头: 左弧形 43">
              <a:extLst>
                <a:ext uri="{FF2B5EF4-FFF2-40B4-BE49-F238E27FC236}">
                  <a16:creationId xmlns:a16="http://schemas.microsoft.com/office/drawing/2014/main" id="{874AD4CB-A87D-40E9-9002-1923C1B1BDA9}"/>
                </a:ext>
              </a:extLst>
            </p:cNvPr>
            <p:cNvSpPr/>
            <p:nvPr/>
          </p:nvSpPr>
          <p:spPr>
            <a:xfrm>
              <a:off x="4343400" y="354170"/>
              <a:ext cx="190409" cy="31655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sp>
          <p:nvSpPr>
            <p:cNvPr id="45" name="箭头: 左弧形 44">
              <a:extLst>
                <a:ext uri="{FF2B5EF4-FFF2-40B4-BE49-F238E27FC236}">
                  <a16:creationId xmlns:a16="http://schemas.microsoft.com/office/drawing/2014/main" id="{F7F26B59-3231-48DD-BA91-A0D1B41D0052}"/>
                </a:ext>
              </a:extLst>
            </p:cNvPr>
            <p:cNvSpPr/>
            <p:nvPr/>
          </p:nvSpPr>
          <p:spPr>
            <a:xfrm rot="10800000">
              <a:off x="4556722" y="334927"/>
              <a:ext cx="190409" cy="31655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panose="020B0503020204020204" pitchFamily="34" charset="-122"/>
                <a:cs typeface="+mn-cs"/>
              </a:endParaRPr>
            </a:p>
          </p:txBody>
        </p:sp>
      </p:grpSp>
      <p:sp>
        <p:nvSpPr>
          <p:cNvPr id="46" name="矩形 45">
            <a:extLst>
              <a:ext uri="{FF2B5EF4-FFF2-40B4-BE49-F238E27FC236}">
                <a16:creationId xmlns:a16="http://schemas.microsoft.com/office/drawing/2014/main" id="{22972694-35F7-4F3C-A786-E958DE874A29}"/>
              </a:ext>
            </a:extLst>
          </p:cNvPr>
          <p:cNvSpPr/>
          <p:nvPr/>
        </p:nvSpPr>
        <p:spPr>
          <a:xfrm>
            <a:off x="8220629" y="4937834"/>
            <a:ext cx="119337" cy="119337"/>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7" name="文本框 46">
            <a:extLst>
              <a:ext uri="{FF2B5EF4-FFF2-40B4-BE49-F238E27FC236}">
                <a16:creationId xmlns:a16="http://schemas.microsoft.com/office/drawing/2014/main" id="{2510AF81-EFB1-4C8A-A04C-E43801A428A8}"/>
              </a:ext>
            </a:extLst>
          </p:cNvPr>
          <p:cNvSpPr txBox="1"/>
          <p:nvPr/>
        </p:nvSpPr>
        <p:spPr>
          <a:xfrm>
            <a:off x="8287195" y="4858378"/>
            <a:ext cx="175260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interface submodule</a:t>
            </a:r>
            <a:endParaRPr kumimoji="0" lang="zh-CN" altLang="en-US" sz="11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48" name="箭头: 左右 47">
            <a:extLst>
              <a:ext uri="{FF2B5EF4-FFF2-40B4-BE49-F238E27FC236}">
                <a16:creationId xmlns:a16="http://schemas.microsoft.com/office/drawing/2014/main" id="{315B6394-C222-4E64-B844-9FC0AE982EF6}"/>
              </a:ext>
            </a:extLst>
          </p:cNvPr>
          <p:cNvSpPr/>
          <p:nvPr/>
        </p:nvSpPr>
        <p:spPr>
          <a:xfrm>
            <a:off x="9743240" y="4919727"/>
            <a:ext cx="292693" cy="144887"/>
          </a:xfrm>
          <a:prstGeom prst="leftRightArrow">
            <a:avLst>
              <a:gd name="adj1" fmla="val 23333"/>
              <a:gd name="adj2" fmla="val 3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49" name="矩形 48">
            <a:extLst>
              <a:ext uri="{FF2B5EF4-FFF2-40B4-BE49-F238E27FC236}">
                <a16:creationId xmlns:a16="http://schemas.microsoft.com/office/drawing/2014/main" id="{63FCF950-11E8-4D69-89B8-02F0C2865CEC}"/>
              </a:ext>
            </a:extLst>
          </p:cNvPr>
          <p:cNvSpPr/>
          <p:nvPr/>
        </p:nvSpPr>
        <p:spPr>
          <a:xfrm>
            <a:off x="1631302" y="3257324"/>
            <a:ext cx="674564" cy="55769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Host Memory</a:t>
            </a:r>
            <a:endParaRPr kumimoji="0" lang="zh-CN" altLang="en-US" sz="11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50" name="矩形 49">
            <a:extLst>
              <a:ext uri="{FF2B5EF4-FFF2-40B4-BE49-F238E27FC236}">
                <a16:creationId xmlns:a16="http://schemas.microsoft.com/office/drawing/2014/main" id="{FA2D96D9-D92F-4CAB-943D-C598354C497D}"/>
              </a:ext>
            </a:extLst>
          </p:cNvPr>
          <p:cNvSpPr/>
          <p:nvPr/>
        </p:nvSpPr>
        <p:spPr>
          <a:xfrm>
            <a:off x="3314045" y="3188315"/>
            <a:ext cx="561253" cy="709785"/>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panose="020B0503020204020204" pitchFamily="34" charset="-122"/>
              <a:cs typeface="+mn-cs"/>
            </a:endParaRPr>
          </a:p>
        </p:txBody>
      </p:sp>
      <p:sp>
        <p:nvSpPr>
          <p:cNvPr id="51" name="矩形 50">
            <a:extLst>
              <a:ext uri="{FF2B5EF4-FFF2-40B4-BE49-F238E27FC236}">
                <a16:creationId xmlns:a16="http://schemas.microsoft.com/office/drawing/2014/main" id="{57ABCF31-9797-412A-815E-CB32A8F3A083}"/>
              </a:ext>
            </a:extLst>
          </p:cNvPr>
          <p:cNvSpPr/>
          <p:nvPr/>
        </p:nvSpPr>
        <p:spPr>
          <a:xfrm>
            <a:off x="3389400" y="3562659"/>
            <a:ext cx="410099" cy="125611"/>
          </a:xfrm>
          <a:prstGeom prst="rect">
            <a:avLst/>
          </a:prstGeom>
          <a:solidFill>
            <a:schemeClr val="bg2">
              <a:lumMod val="75000"/>
            </a:schemeClr>
          </a:solidFill>
          <a:ln>
            <a:solidFill>
              <a:schemeClr val="bg2">
                <a:lumMod val="5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52" name="矩形 51">
            <a:extLst>
              <a:ext uri="{FF2B5EF4-FFF2-40B4-BE49-F238E27FC236}">
                <a16:creationId xmlns:a16="http://schemas.microsoft.com/office/drawing/2014/main" id="{F698F0AE-EAC3-406D-886C-0DA393491AF4}"/>
              </a:ext>
            </a:extLst>
          </p:cNvPr>
          <p:cNvSpPr/>
          <p:nvPr/>
        </p:nvSpPr>
        <p:spPr>
          <a:xfrm>
            <a:off x="3389400" y="3383107"/>
            <a:ext cx="410099" cy="125611"/>
          </a:xfrm>
          <a:prstGeom prst="rect">
            <a:avLst/>
          </a:prstGeom>
          <a:solidFill>
            <a:schemeClr val="bg2">
              <a:lumMod val="75000"/>
            </a:schemeClr>
          </a:solidFill>
          <a:ln>
            <a:solidFill>
              <a:schemeClr val="bg2">
                <a:lumMod val="5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53" name="矩形 52">
            <a:extLst>
              <a:ext uri="{FF2B5EF4-FFF2-40B4-BE49-F238E27FC236}">
                <a16:creationId xmlns:a16="http://schemas.microsoft.com/office/drawing/2014/main" id="{DDC58DA5-D02E-4F94-9BB8-9784810DFA04}"/>
              </a:ext>
            </a:extLst>
          </p:cNvPr>
          <p:cNvSpPr/>
          <p:nvPr/>
        </p:nvSpPr>
        <p:spPr>
          <a:xfrm>
            <a:off x="3389400" y="3742211"/>
            <a:ext cx="410099" cy="125611"/>
          </a:xfrm>
          <a:prstGeom prst="rect">
            <a:avLst/>
          </a:prstGeom>
          <a:solidFill>
            <a:schemeClr val="bg2">
              <a:lumMod val="75000"/>
            </a:schemeClr>
          </a:solidFill>
          <a:ln>
            <a:solidFill>
              <a:schemeClr val="bg2">
                <a:lumMod val="5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54" name="文本框 53">
            <a:extLst>
              <a:ext uri="{FF2B5EF4-FFF2-40B4-BE49-F238E27FC236}">
                <a16:creationId xmlns:a16="http://schemas.microsoft.com/office/drawing/2014/main" id="{7E4B29ED-D0F8-44E5-9728-CAB3AF597A89}"/>
              </a:ext>
            </a:extLst>
          </p:cNvPr>
          <p:cNvSpPr txBox="1"/>
          <p:nvPr/>
        </p:nvSpPr>
        <p:spPr>
          <a:xfrm>
            <a:off x="3267336" y="3116195"/>
            <a:ext cx="69362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streams</a:t>
            </a:r>
            <a:endParaRPr kumimoji="0" lang="zh-CN" altLang="en-US" sz="12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cxnSp>
        <p:nvCxnSpPr>
          <p:cNvPr id="55" name="直接箭头连接符 54">
            <a:extLst>
              <a:ext uri="{FF2B5EF4-FFF2-40B4-BE49-F238E27FC236}">
                <a16:creationId xmlns:a16="http://schemas.microsoft.com/office/drawing/2014/main" id="{8AD86BDF-B79B-4B71-B2FC-A508C18C4AA5}"/>
              </a:ext>
            </a:extLst>
          </p:cNvPr>
          <p:cNvCxnSpPr>
            <a:endCxn id="20" idx="0"/>
          </p:cNvCxnSpPr>
          <p:nvPr/>
        </p:nvCxnSpPr>
        <p:spPr>
          <a:xfrm flipH="1">
            <a:off x="2139248" y="3815022"/>
            <a:ext cx="1997" cy="23620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CE59D228-2EA2-4238-9B72-C5DD6F76E8E6}"/>
              </a:ext>
            </a:extLst>
          </p:cNvPr>
          <p:cNvCxnSpPr>
            <a:cxnSpLocks/>
            <a:stCxn id="50" idx="3"/>
            <a:endCxn id="15" idx="1"/>
          </p:cNvCxnSpPr>
          <p:nvPr/>
        </p:nvCxnSpPr>
        <p:spPr>
          <a:xfrm flipV="1">
            <a:off x="3875298" y="3303502"/>
            <a:ext cx="138385" cy="23970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30714463-8FCF-48FF-874F-DB249B382CA0}"/>
              </a:ext>
            </a:extLst>
          </p:cNvPr>
          <p:cNvCxnSpPr>
            <a:cxnSpLocks/>
            <a:stCxn id="25" idx="0"/>
            <a:endCxn id="50" idx="2"/>
          </p:cNvCxnSpPr>
          <p:nvPr/>
        </p:nvCxnSpPr>
        <p:spPr>
          <a:xfrm flipV="1">
            <a:off x="3591661" y="3898100"/>
            <a:ext cx="3011" cy="15330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FC92FB80-7610-4FD7-A9CD-A549412E45FD}"/>
              </a:ext>
            </a:extLst>
          </p:cNvPr>
          <p:cNvSpPr txBox="1"/>
          <p:nvPr/>
        </p:nvSpPr>
        <p:spPr>
          <a:xfrm>
            <a:off x="10035933" y="4855438"/>
            <a:ext cx="1979599"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interaction through variable</a:t>
            </a:r>
            <a:endParaRPr kumimoji="0" lang="zh-CN" altLang="en-US" sz="11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p:txBody>
      </p:sp>
      <p:sp>
        <p:nvSpPr>
          <p:cNvPr id="60" name="文本框 59">
            <a:extLst>
              <a:ext uri="{FF2B5EF4-FFF2-40B4-BE49-F238E27FC236}">
                <a16:creationId xmlns:a16="http://schemas.microsoft.com/office/drawing/2014/main" id="{BC5BE64E-F034-4C59-825F-DBB6ECE7020B}"/>
              </a:ext>
            </a:extLst>
          </p:cNvPr>
          <p:cNvSpPr txBox="1"/>
          <p:nvPr/>
        </p:nvSpPr>
        <p:spPr>
          <a:xfrm>
            <a:off x="10266373" y="2453406"/>
            <a:ext cx="65935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PHY</a:t>
            </a:r>
            <a:endParaRPr kumimoji="0" lang="zh-CN" altLang="en-US" sz="1800" b="0"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nvGrpSpPr>
          <p:cNvPr id="62" name="组合 61">
            <a:extLst>
              <a:ext uri="{FF2B5EF4-FFF2-40B4-BE49-F238E27FC236}">
                <a16:creationId xmlns:a16="http://schemas.microsoft.com/office/drawing/2014/main" id="{1C433E06-BC98-448C-BB0E-CFC1370BD496}"/>
              </a:ext>
            </a:extLst>
          </p:cNvPr>
          <p:cNvGrpSpPr/>
          <p:nvPr/>
        </p:nvGrpSpPr>
        <p:grpSpPr>
          <a:xfrm>
            <a:off x="9779832" y="2709011"/>
            <a:ext cx="392269" cy="2046425"/>
            <a:chOff x="10749617" y="1563544"/>
            <a:chExt cx="779809" cy="698039"/>
          </a:xfrm>
        </p:grpSpPr>
        <p:sp>
          <p:nvSpPr>
            <p:cNvPr id="63" name="矩形 62">
              <a:extLst>
                <a:ext uri="{FF2B5EF4-FFF2-40B4-BE49-F238E27FC236}">
                  <a16:creationId xmlns:a16="http://schemas.microsoft.com/office/drawing/2014/main" id="{DA2E1456-AA31-46DE-A252-176A8B292244}"/>
                </a:ext>
              </a:extLst>
            </p:cNvPr>
            <p:cNvSpPr/>
            <p:nvPr/>
          </p:nvSpPr>
          <p:spPr>
            <a:xfrm>
              <a:off x="10749617" y="1563544"/>
              <a:ext cx="779809" cy="65527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64" name="文本框 63">
              <a:extLst>
                <a:ext uri="{FF2B5EF4-FFF2-40B4-BE49-F238E27FC236}">
                  <a16:creationId xmlns:a16="http://schemas.microsoft.com/office/drawing/2014/main" id="{2EE8DA97-718F-4578-9D04-856D16960EAB}"/>
                </a:ext>
              </a:extLst>
            </p:cNvPr>
            <p:cNvSpPr txBox="1"/>
            <p:nvPr/>
          </p:nvSpPr>
          <p:spPr>
            <a:xfrm rot="5400000">
              <a:off x="10848316" y="1614903"/>
              <a:ext cx="559148" cy="73421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Channels</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cxnSp>
        <p:nvCxnSpPr>
          <p:cNvPr id="66" name="直接连接符 65">
            <a:extLst>
              <a:ext uri="{FF2B5EF4-FFF2-40B4-BE49-F238E27FC236}">
                <a16:creationId xmlns:a16="http://schemas.microsoft.com/office/drawing/2014/main" id="{30C77F12-038C-496D-BF07-1AC0DFFF0275}"/>
              </a:ext>
            </a:extLst>
          </p:cNvPr>
          <p:cNvCxnSpPr>
            <a:cxnSpLocks/>
          </p:cNvCxnSpPr>
          <p:nvPr/>
        </p:nvCxnSpPr>
        <p:spPr>
          <a:xfrm>
            <a:off x="10154782" y="3094401"/>
            <a:ext cx="545496" cy="0"/>
          </a:xfrm>
          <a:prstGeom prst="line">
            <a:avLst/>
          </a:prstGeom>
        </p:spPr>
        <p:style>
          <a:lnRef idx="1">
            <a:schemeClr val="accent3"/>
          </a:lnRef>
          <a:fillRef idx="0">
            <a:schemeClr val="accent3"/>
          </a:fillRef>
          <a:effectRef idx="0">
            <a:schemeClr val="accent3"/>
          </a:effectRef>
          <a:fontRef idx="minor">
            <a:schemeClr val="tx1"/>
          </a:fontRef>
        </p:style>
      </p:cxnSp>
      <p:grpSp>
        <p:nvGrpSpPr>
          <p:cNvPr id="69" name="组合 68">
            <a:extLst>
              <a:ext uri="{FF2B5EF4-FFF2-40B4-BE49-F238E27FC236}">
                <a16:creationId xmlns:a16="http://schemas.microsoft.com/office/drawing/2014/main" id="{3851856A-407A-4BAC-9C26-A645CC039841}"/>
              </a:ext>
            </a:extLst>
          </p:cNvPr>
          <p:cNvGrpSpPr/>
          <p:nvPr/>
        </p:nvGrpSpPr>
        <p:grpSpPr>
          <a:xfrm>
            <a:off x="10719740" y="3688270"/>
            <a:ext cx="779809" cy="655271"/>
            <a:chOff x="10749617" y="1563544"/>
            <a:chExt cx="779809" cy="655271"/>
          </a:xfrm>
        </p:grpSpPr>
        <p:sp>
          <p:nvSpPr>
            <p:cNvPr id="70" name="矩形 69">
              <a:extLst>
                <a:ext uri="{FF2B5EF4-FFF2-40B4-BE49-F238E27FC236}">
                  <a16:creationId xmlns:a16="http://schemas.microsoft.com/office/drawing/2014/main" id="{1E239850-94B3-49E8-85D7-74F056345BF0}"/>
                </a:ext>
              </a:extLst>
            </p:cNvPr>
            <p:cNvSpPr/>
            <p:nvPr/>
          </p:nvSpPr>
          <p:spPr>
            <a:xfrm>
              <a:off x="10749617" y="1563544"/>
              <a:ext cx="779809" cy="65527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sp>
          <p:nvSpPr>
            <p:cNvPr id="71" name="文本框 70">
              <a:extLst>
                <a:ext uri="{FF2B5EF4-FFF2-40B4-BE49-F238E27FC236}">
                  <a16:creationId xmlns:a16="http://schemas.microsoft.com/office/drawing/2014/main" id="{4160117B-F72F-4EA2-BC0B-CE2332FDED97}"/>
                </a:ext>
              </a:extLst>
            </p:cNvPr>
            <p:cNvSpPr txBox="1"/>
            <p:nvPr/>
          </p:nvSpPr>
          <p:spPr>
            <a:xfrm>
              <a:off x="10786227" y="1570417"/>
              <a:ext cx="706591" cy="2284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rPr>
                <a:t>Flash Chips</a:t>
              </a:r>
              <a:endParaRPr kumimoji="0" lang="zh-CN" altLang="en-US" sz="1800" b="1" i="0" u="none" strike="noStrike" kern="1200" cap="none" spc="0" normalizeH="0" baseline="0" noProof="0" dirty="0">
                <a:ln>
                  <a:noFill/>
                </a:ln>
                <a:solidFill>
                  <a:prstClr val="white"/>
                </a:solidFill>
                <a:effectLst/>
                <a:uLnTx/>
                <a:uFillTx/>
                <a:latin typeface="Calibri"/>
                <a:ea typeface="微软雅黑" panose="020B0503020204020204" pitchFamily="34" charset="-122"/>
                <a:cs typeface="+mn-cs"/>
              </a:endParaRPr>
            </a:p>
          </p:txBody>
        </p:sp>
      </p:grpSp>
      <p:cxnSp>
        <p:nvCxnSpPr>
          <p:cNvPr id="72" name="直接连接符 71">
            <a:extLst>
              <a:ext uri="{FF2B5EF4-FFF2-40B4-BE49-F238E27FC236}">
                <a16:creationId xmlns:a16="http://schemas.microsoft.com/office/drawing/2014/main" id="{BAEAD0DB-990A-4599-A0F4-ED7D64B876A9}"/>
              </a:ext>
            </a:extLst>
          </p:cNvPr>
          <p:cNvCxnSpPr>
            <a:cxnSpLocks/>
          </p:cNvCxnSpPr>
          <p:nvPr/>
        </p:nvCxnSpPr>
        <p:spPr>
          <a:xfrm>
            <a:off x="10163136" y="3941948"/>
            <a:ext cx="545496" cy="0"/>
          </a:xfrm>
          <a:prstGeom prst="line">
            <a:avLst/>
          </a:prstGeom>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803290520"/>
      </p:ext>
    </p:extLst>
  </p:cSld>
  <p:clrMapOvr>
    <a:masterClrMapping/>
  </p:clrMapOvr>
</p:sld>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3824</TotalTime>
  <Words>443</Words>
  <Application>Microsoft Office PowerPoint</Application>
  <PresentationFormat>宽屏</PresentationFormat>
  <Paragraphs>73</Paragraphs>
  <Slides>4</Slides>
  <Notes>3</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4</vt:i4>
      </vt:variant>
    </vt:vector>
  </HeadingPairs>
  <TitlesOfParts>
    <vt:vector size="11" baseType="lpstr">
      <vt:lpstr>等线</vt:lpstr>
      <vt:lpstr>微软雅黑</vt:lpstr>
      <vt:lpstr>Arial</vt:lpstr>
      <vt:lpstr>Calibri</vt:lpstr>
      <vt:lpstr>Wingdings</vt:lpstr>
      <vt:lpstr>自定义设计方案</vt:lpstr>
      <vt:lpstr>WPS</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Tongbin Zhao</dc:creator>
  <cp:lastModifiedBy>Tongbin Zhao</cp:lastModifiedBy>
  <cp:revision>413</cp:revision>
  <dcterms:created xsi:type="dcterms:W3CDTF">2023-08-09T12:44:00Z</dcterms:created>
  <dcterms:modified xsi:type="dcterms:W3CDTF">2026-04-17T03:04:47Z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ies>
</file>